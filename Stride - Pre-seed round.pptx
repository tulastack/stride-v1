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lockup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92727" y="1554480"/>
            <a:ext cx="4206240" cy="1018511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66928" y="2880360"/>
            <a:ext cx="11057839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2000"/>
              </a:lnSpc>
              <a:spcAft>
                <a:spcPts val="500"/>
              </a:spcAft>
            </a:pPr>
            <a:r>
              <a:rPr sz="2200" b="1" i="0">
                <a:solidFill>
                  <a:srgbClr val="F5F5F3"/>
                </a:solidFill>
                <a:latin typeface="Helvetica Neue"/>
              </a:rPr>
              <a:t>AI running form coaching.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0" y="3429000"/>
            <a:ext cx="6705295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30000"/>
              </a:lnSpc>
              <a:spcAft>
                <a:spcPts val="500"/>
              </a:spcAft>
            </a:pPr>
            <a:r>
              <a:rPr sz="1250" b="0" i="0">
                <a:solidFill>
                  <a:srgbClr val="A0A097"/>
                </a:solidFill>
                <a:latin typeface="Helvetica Neue"/>
              </a:rPr>
              <a:t>Film 12 seconds on any phone. Stride measures the biomechanics, scores the form, shows every fault on video — and schedules the drills that fix it.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92327" y="4892040"/>
            <a:ext cx="3383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2000"/>
              </a:lnSpc>
              <a:spcAft>
                <a:spcPts val="500"/>
              </a:spcAft>
            </a:pPr>
            <a:r>
              <a:rPr sz="950" b="1" i="0">
                <a:solidFill>
                  <a:srgbClr val="FFFFFF"/>
                </a:solidFill>
                <a:latin typeface="Helvetica Neue"/>
              </a:rPr>
              <a:t>ROUND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92327" y="5148072"/>
            <a:ext cx="33832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2000"/>
              </a:lnSpc>
              <a:spcAft>
                <a:spcPts val="500"/>
              </a:spcAft>
            </a:pPr>
            <a:r>
              <a:rPr sz="1150" b="0" i="0">
                <a:solidFill>
                  <a:srgbClr val="F5F5F3"/>
                </a:solidFill>
                <a:latin typeface="Menlo"/>
              </a:rPr>
              <a:t>Raising $500K pre-seed · SAFE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404207" y="4892040"/>
            <a:ext cx="3383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2000"/>
              </a:lnSpc>
              <a:spcAft>
                <a:spcPts val="500"/>
              </a:spcAft>
            </a:pPr>
            <a:r>
              <a:rPr sz="950" b="1" i="0">
                <a:solidFill>
                  <a:srgbClr val="FFFFFF"/>
                </a:solidFill>
                <a:latin typeface="Helvetica Neue"/>
              </a:rPr>
              <a:t>STAGE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404207" y="5148072"/>
            <a:ext cx="33832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2000"/>
              </a:lnSpc>
              <a:spcAft>
                <a:spcPts val="500"/>
              </a:spcAft>
            </a:pPr>
            <a:r>
              <a:rPr sz="1150" b="0" i="0">
                <a:solidFill>
                  <a:srgbClr val="F5F5F3"/>
                </a:solidFill>
                <a:latin typeface="Helvetica Neue"/>
              </a:rPr>
              <a:t>Product built &amp; verified · pilots live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16087" y="4892040"/>
            <a:ext cx="3383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2000"/>
              </a:lnSpc>
              <a:spcAft>
                <a:spcPts val="500"/>
              </a:spcAft>
            </a:pPr>
            <a:r>
              <a:rPr sz="950" b="1" i="0">
                <a:solidFill>
                  <a:srgbClr val="FFFFFF"/>
                </a:solidFill>
                <a:latin typeface="Helvetica Neue"/>
              </a:rPr>
              <a:t>CONTACT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16087" y="5148072"/>
            <a:ext cx="33832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2000"/>
              </a:lnSpc>
              <a:spcAft>
                <a:spcPts val="500"/>
              </a:spcAft>
            </a:pPr>
            <a:r>
              <a:rPr sz="1150" b="0" i="0">
                <a:solidFill>
                  <a:srgbClr val="F5F5F3"/>
                </a:solidFill>
                <a:latin typeface="Helvetica Neue"/>
              </a:rPr>
              <a:t>Adhiban Arulselvan · ‹ hello@stride domain ›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mark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365760"/>
            <a:ext cx="210165" cy="173736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68680" y="347472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100" b="1" i="0">
                <a:solidFill>
                  <a:srgbClr val="A0A097"/>
                </a:solidFill>
                <a:latin typeface="Helvetica Neue"/>
              </a:rPr>
              <a:t>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27487" y="347472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2000"/>
              </a:lnSpc>
              <a:spcAft>
                <a:spcPts val="500"/>
              </a:spcAft>
            </a:pPr>
            <a:r>
              <a:rPr sz="1100" b="0" i="0">
                <a:solidFill>
                  <a:srgbClr val="A0A097"/>
                </a:solidFill>
                <a:latin typeface="Menlo"/>
              </a:rPr>
              <a:t>02 / 13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66928" y="658368"/>
            <a:ext cx="11057839" cy="0"/>
          </a:xfrm>
          <a:prstGeom prst="line">
            <a:avLst/>
          </a:prstGeom>
          <a:ln w="12700">
            <a:solidFill>
              <a:srgbClr val="2E2E2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566928" y="658368"/>
            <a:ext cx="502920" cy="0"/>
          </a:xfrm>
          <a:prstGeom prst="line">
            <a:avLst/>
          </a:prstGeom>
          <a:ln w="22860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66928" y="859536"/>
            <a:ext cx="11057839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500"/>
              </a:spcAft>
            </a:pPr>
            <a:r>
              <a:rPr sz="2700" b="1" i="0">
                <a:solidFill>
                  <a:srgbClr val="F5F5F3"/>
                </a:solidFill>
                <a:latin typeface="Helvetica Neue"/>
              </a:rPr>
              <a:t>Half of runners get injured every year —
the faults are on video nobody measures.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1938528"/>
            <a:ext cx="11057839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500"/>
              </a:spcAft>
            </a:pPr>
            <a:r>
              <a:rPr sz="1350" b="0" i="0">
                <a:solidFill>
                  <a:srgbClr val="A0A097"/>
                </a:solidFill>
                <a:latin typeface="Helvetica Neue"/>
              </a:rPr>
              <a:t>Today's options: a $200–500 lab session most towns don't have, or a coach's eye across 40 athletes. Faults stay invisible until they become injuries.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2788920"/>
            <a:ext cx="3533546" cy="1600200"/>
          </a:xfrm>
          <a:prstGeom prst="roundRect">
            <a:avLst>
              <a:gd name="adj" fmla="val 3500"/>
            </a:avLst>
          </a:prstGeom>
          <a:solidFill>
            <a:srgbClr val="0E0E0E"/>
          </a:solidFill>
          <a:ln w="12700">
            <a:solidFill>
              <a:srgbClr val="2E2E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8096" y="2953512"/>
            <a:ext cx="313121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3400" b="1" i="0">
                <a:solidFill>
                  <a:srgbClr val="F5F5F3"/>
                </a:solidFill>
                <a:latin typeface="Menlo"/>
              </a:rPr>
              <a:t>50</a:t>
            </a:r>
            <a:r>
              <a:rPr sz="1700" b="1" i="0">
                <a:solidFill>
                  <a:srgbClr val="A0A097"/>
                </a:solidFill>
                <a:latin typeface="Menlo"/>
              </a:rPr>
              <a:t>M+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8096" y="3630168"/>
            <a:ext cx="313121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50" b="0" i="0">
                <a:solidFill>
                  <a:srgbClr val="A0A097"/>
                </a:solidFill>
                <a:latin typeface="Helvetica Neue"/>
              </a:rPr>
              <a:t>Americans ran in 2024 — the #1 participation sport.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29074" y="2788920"/>
            <a:ext cx="3533546" cy="1600200"/>
          </a:xfrm>
          <a:prstGeom prst="roundRect">
            <a:avLst>
              <a:gd name="adj" fmla="val 3500"/>
            </a:avLst>
          </a:prstGeom>
          <a:solidFill>
            <a:srgbClr val="0E0E0E"/>
          </a:solidFill>
          <a:ln w="12700">
            <a:solidFill>
              <a:srgbClr val="2E2E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30242" y="2953512"/>
            <a:ext cx="313121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3400" b="1" i="0">
                <a:solidFill>
                  <a:srgbClr val="F5F5F3"/>
                </a:solidFill>
                <a:latin typeface="Menlo"/>
              </a:rPr>
              <a:t>&gt;50</a:t>
            </a:r>
            <a:r>
              <a:rPr sz="1700" b="1" i="0">
                <a:solidFill>
                  <a:srgbClr val="A0A097"/>
                </a:solidFill>
                <a:latin typeface="Menlo"/>
              </a:rPr>
              <a:t>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30242" y="3630168"/>
            <a:ext cx="313121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50" b="0" i="0">
                <a:solidFill>
                  <a:srgbClr val="A0A097"/>
                </a:solidFill>
                <a:latin typeface="Helvetica Neue"/>
              </a:rPr>
              <a:t>of regular runners injured each year. Prior injury doubles the odds.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91220" y="2788920"/>
            <a:ext cx="3533546" cy="1600200"/>
          </a:xfrm>
          <a:prstGeom prst="roundRect">
            <a:avLst>
              <a:gd name="adj" fmla="val 3500"/>
            </a:avLst>
          </a:prstGeom>
          <a:solidFill>
            <a:srgbClr val="0E0E0E"/>
          </a:solidFill>
          <a:ln w="12700">
            <a:solidFill>
              <a:srgbClr val="2E2E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92388" y="2953512"/>
            <a:ext cx="313121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3400" b="1" i="0">
                <a:solidFill>
                  <a:srgbClr val="F5F5F3"/>
                </a:solidFill>
                <a:latin typeface="Menlo"/>
              </a:rPr>
              <a:t>$200</a:t>
            </a:r>
            <a:r>
              <a:rPr sz="1700" b="1" i="0">
                <a:solidFill>
                  <a:srgbClr val="A0A097"/>
                </a:solidFill>
                <a:latin typeface="Menlo"/>
              </a:rPr>
              <a:t>–500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92388" y="3630168"/>
            <a:ext cx="313121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50" b="0" i="0">
                <a:solidFill>
                  <a:srgbClr val="A0A097"/>
                </a:solidFill>
                <a:latin typeface="Helvetica Neue"/>
              </a:rPr>
              <a:t>per lab gait session — and labs cluster around elite programs.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66928" y="6419088"/>
            <a:ext cx="1105783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950" b="0" i="0">
                <a:solidFill>
                  <a:srgbClr val="A0A097"/>
                </a:solidFill>
                <a:latin typeface="Helvetica Neue"/>
              </a:rPr>
              <a:t>Sources: SFIA 2024 · Garmin-RUNSAFE cohort, n=7,000+, 87 countries (JOSPT).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mark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365760"/>
            <a:ext cx="210165" cy="173736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68680" y="347472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100" b="1" i="0">
                <a:solidFill>
                  <a:srgbClr val="A0A097"/>
                </a:solidFill>
                <a:latin typeface="Helvetica Neue"/>
              </a:rPr>
              <a:t>PRODUCT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27487" y="347472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2000"/>
              </a:lnSpc>
              <a:spcAft>
                <a:spcPts val="500"/>
              </a:spcAft>
            </a:pPr>
            <a:r>
              <a:rPr sz="1100" b="0" i="0">
                <a:solidFill>
                  <a:srgbClr val="A0A097"/>
                </a:solidFill>
                <a:latin typeface="Menlo"/>
              </a:rPr>
              <a:t>03 / 13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66928" y="658368"/>
            <a:ext cx="11057839" cy="0"/>
          </a:xfrm>
          <a:prstGeom prst="line">
            <a:avLst/>
          </a:prstGeom>
          <a:ln w="12700">
            <a:solidFill>
              <a:srgbClr val="2E2E2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566928" y="658368"/>
            <a:ext cx="502920" cy="0"/>
          </a:xfrm>
          <a:prstGeom prst="line">
            <a:avLst/>
          </a:prstGeom>
          <a:ln w="22860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66928" y="859536"/>
            <a:ext cx="11057839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500"/>
              </a:spcAft>
            </a:pPr>
            <a:r>
              <a:rPr sz="2700" b="1" i="0">
                <a:solidFill>
                  <a:srgbClr val="F5F5F3"/>
                </a:solidFill>
                <a:latin typeface="Helvetica Neue"/>
              </a:rPr>
              <a:t>Video in, coaching out — in under 90 seconds.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816455" y="1572768"/>
            <a:ext cx="2212848" cy="3794760"/>
          </a:xfrm>
          <a:prstGeom prst="roundRect">
            <a:avLst>
              <a:gd name="adj" fmla="val 9000"/>
            </a:avLst>
          </a:prstGeom>
          <a:solidFill>
            <a:srgbClr val="0A0A0A"/>
          </a:solidFill>
          <a:ln w="17780">
            <a:solidFill>
              <a:srgbClr val="F5F5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1962759" y="1719072"/>
            <a:ext cx="1920240" cy="2971800"/>
          </a:xfrm>
          <a:prstGeom prst="roundRect">
            <a:avLst>
              <a:gd name="adj" fmla="val 5000"/>
            </a:avLst>
          </a:prstGeom>
          <a:solidFill>
            <a:srgbClr val="1A1A17"/>
          </a:solidFill>
          <a:ln w="12700">
            <a:solidFill>
              <a:srgbClr val="2E2E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2067915" y="1833372"/>
            <a:ext cx="82296" cy="82296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182215" y="1792224"/>
            <a:ext cx="16459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750" b="1" i="0">
                <a:solidFill>
                  <a:srgbClr val="A0A097"/>
                </a:solidFill>
                <a:latin typeface="Menlo"/>
              </a:rPr>
              <a:t>REC 0:07 · 240 FPS</a:t>
            </a:r>
          </a:p>
        </p:txBody>
      </p:sp>
      <p:sp>
        <p:nvSpPr>
          <p:cNvPr id="12" name="Oval 11"/>
          <p:cNvSpPr/>
          <p:nvPr/>
        </p:nvSpPr>
        <p:spPr>
          <a:xfrm>
            <a:off x="2804007" y="2192456"/>
            <a:ext cx="237744" cy="237744"/>
          </a:xfrm>
          <a:prstGeom prst="ellipse">
            <a:avLst/>
          </a:prstGeom>
          <a:noFill/>
          <a:ln w="254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3" name="Connector 12"/>
          <p:cNvCxnSpPr/>
          <p:nvPr/>
        </p:nvCxnSpPr>
        <p:spPr>
          <a:xfrm flipH="1">
            <a:off x="2875147.5" y="2430200"/>
            <a:ext cx="47732.0" cy="274412"/>
          </a:xfrm>
          <a:prstGeom prst="line">
            <a:avLst/>
          </a:prstGeom>
          <a:ln w="27940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H="1">
            <a:off x="2811505.5" y="2704612"/>
            <a:ext cx="63642.0" cy="601492"/>
          </a:xfrm>
          <a:prstGeom prst="line">
            <a:avLst/>
          </a:prstGeom>
          <a:ln w="27940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2811505.5" y="3306104"/>
            <a:ext cx="270479.0" cy="323881"/>
          </a:xfrm>
          <a:prstGeom prst="line">
            <a:avLst/>
          </a:prstGeom>
          <a:ln w="27940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3081984.5" y="3629985"/>
            <a:ext cx="63642.0" cy="485820"/>
          </a:xfrm>
          <a:prstGeom prst="line">
            <a:avLst/>
          </a:prstGeom>
          <a:ln w="27940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 flipH="1">
            <a:off x="2556936.5" y="3306104"/>
            <a:ext cx="254569.0" cy="370149"/>
          </a:xfrm>
          <a:prstGeom prst="line">
            <a:avLst/>
          </a:prstGeom>
          <a:ln w="27940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 flipH="1">
            <a:off x="2302367.5" y="3676253"/>
            <a:ext cx="254569.0" cy="277612"/>
          </a:xfrm>
          <a:prstGeom prst="line">
            <a:avLst/>
          </a:prstGeom>
          <a:ln w="27940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2875147.5" y="2704612"/>
            <a:ext cx="254569.0" cy="231343"/>
          </a:xfrm>
          <a:prstGeom prst="line">
            <a:avLst/>
          </a:prstGeom>
          <a:ln w="27940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 flipV="1">
            <a:off x="3129716.5" y="2750880"/>
            <a:ext cx="190927.0" cy="185075"/>
          </a:xfrm>
          <a:prstGeom prst="line">
            <a:avLst/>
          </a:prstGeom>
          <a:ln w="27940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 flipH="1">
            <a:off x="2588757.5" y="2704612"/>
            <a:ext cx="286390.0" cy="323880"/>
          </a:xfrm>
          <a:prstGeom prst="line">
            <a:avLst/>
          </a:prstGeom>
          <a:ln w="27940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 flipH="1">
            <a:off x="2445562.5" y="3028492"/>
            <a:ext cx="143195.0" cy="254478"/>
          </a:xfrm>
          <a:prstGeom prst="line">
            <a:avLst/>
          </a:prstGeom>
          <a:ln w="27940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Oval 22"/>
          <p:cNvSpPr/>
          <p:nvPr/>
        </p:nvSpPr>
        <p:spPr>
          <a:xfrm>
            <a:off x="2843143" y="2672608"/>
            <a:ext cx="64008" cy="64008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2779501" y="3274100"/>
            <a:ext cx="64008" cy="64008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3049980" y="3597981"/>
            <a:ext cx="64008" cy="64008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3113622" y="4083801"/>
            <a:ext cx="64008" cy="64008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2524932" y="3644249"/>
            <a:ext cx="64008" cy="64008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2270363" y="3921861"/>
            <a:ext cx="64008" cy="64008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3097712" y="2903951"/>
            <a:ext cx="64008" cy="64008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3288639" y="2718876"/>
            <a:ext cx="64008" cy="64008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2556753" y="2996488"/>
            <a:ext cx="64008" cy="64008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2413558" y="3250966"/>
            <a:ext cx="64008" cy="64008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3008466" y="3978645"/>
            <a:ext cx="274320" cy="274320"/>
          </a:xfrm>
          <a:prstGeom prst="ellipse">
            <a:avLst/>
          </a:prstGeom>
          <a:noFill/>
          <a:ln w="15240">
            <a:solidFill>
              <a:srgbClr val="FFFFFF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054199" y="4416552"/>
            <a:ext cx="173736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2000"/>
              </a:lnSpc>
              <a:spcAft>
                <a:spcPts val="500"/>
              </a:spcAft>
            </a:pPr>
            <a:r>
              <a:rPr sz="750" b="1" i="0">
                <a:solidFill>
                  <a:srgbClr val="F5F5F3"/>
                </a:solidFill>
                <a:latin typeface="Menlo"/>
              </a:rPr>
              <a:t>OVERSTRIDE +18% · frame 2:04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2190993" y="2048256"/>
            <a:ext cx="1368308" cy="2478024"/>
          </a:xfrm>
          <a:prstGeom prst="roundRect">
            <a:avLst>
              <a:gd name="adj" fmla="val 3000"/>
            </a:avLst>
          </a:prstGeom>
          <a:noFill/>
          <a:ln w="12700">
            <a:solidFill>
              <a:srgbClr val="A0A097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962759" y="4782312"/>
            <a:ext cx="1920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2000"/>
              </a:lnSpc>
              <a:spcAft>
                <a:spcPts val="500"/>
              </a:spcAft>
            </a:pPr>
            <a:r>
              <a:rPr sz="900" b="0" i="0">
                <a:solidFill>
                  <a:srgbClr val="A0A097"/>
                </a:solidFill>
                <a:latin typeface="Helvetica Neue"/>
              </a:rPr>
              <a:t>Brush-select your athlete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4989423" y="1572768"/>
            <a:ext cx="2212848" cy="3794760"/>
          </a:xfrm>
          <a:prstGeom prst="roundRect">
            <a:avLst>
              <a:gd name="adj" fmla="val 9000"/>
            </a:avLst>
          </a:prstGeom>
          <a:solidFill>
            <a:srgbClr val="0A0A0A"/>
          </a:solidFill>
          <a:ln w="17780">
            <a:solidFill>
              <a:srgbClr val="F5F5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181447" y="1764792"/>
            <a:ext cx="19202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850" b="1" i="0">
                <a:solidFill>
                  <a:srgbClr val="A0A097"/>
                </a:solidFill>
                <a:latin typeface="Helvetica Neue"/>
              </a:rPr>
              <a:t>FORM SCORE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181447" y="1956816"/>
            <a:ext cx="19202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4000" b="1" i="0">
                <a:solidFill>
                  <a:srgbClr val="F5F5F3"/>
                </a:solidFill>
                <a:latin typeface="Menlo"/>
              </a:rPr>
              <a:t>84</a:t>
            </a:r>
            <a:r>
              <a:rPr sz="1600" b="0" i="0">
                <a:solidFill>
                  <a:srgbClr val="A0A097"/>
                </a:solidFill>
                <a:latin typeface="Menlo"/>
              </a:rPr>
              <a:t> /100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5181447" y="2651760"/>
            <a:ext cx="1828800" cy="82296"/>
          </a:xfrm>
          <a:prstGeom prst="roundRect">
            <a:avLst>
              <a:gd name="adj" fmla="val 50000"/>
            </a:avLst>
          </a:prstGeom>
          <a:solidFill>
            <a:srgbClr val="1A1A17"/>
          </a:solidFill>
          <a:ln w="12700">
            <a:solidFill>
              <a:srgbClr val="1A1A1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5181447" y="2651760"/>
            <a:ext cx="1536192" cy="822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181447" y="2852928"/>
            <a:ext cx="19202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850" b="1" i="0">
                <a:solidFill>
                  <a:srgbClr val="A0A097"/>
                </a:solidFill>
                <a:latin typeface="Helvetica Neue"/>
              </a:rPr>
              <a:t>AREAS TO IMPROVE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181447" y="3108960"/>
            <a:ext cx="11430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950" b="0" i="0">
                <a:solidFill>
                  <a:srgbClr val="F5F5F3"/>
                </a:solidFill>
                <a:latin typeface="Helvetica Neue"/>
              </a:rPr>
              <a:t>Overstriding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214719" y="3108960"/>
            <a:ext cx="8229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2000"/>
              </a:lnSpc>
              <a:spcAft>
                <a:spcPts val="500"/>
              </a:spcAft>
            </a:pPr>
            <a:r>
              <a:rPr sz="700" b="1" i="0">
                <a:solidFill>
                  <a:srgbClr val="F5F5F3"/>
                </a:solidFill>
                <a:latin typeface="Menlo"/>
              </a:rPr>
              <a:t>FIX FIRST</a:t>
            </a:r>
          </a:p>
        </p:txBody>
      </p:sp>
      <p:cxnSp>
        <p:nvCxnSpPr>
          <p:cNvPr id="45" name="Connector 44"/>
          <p:cNvCxnSpPr/>
          <p:nvPr/>
        </p:nvCxnSpPr>
        <p:spPr>
          <a:xfrm>
            <a:off x="5181447.5" y="3383280"/>
            <a:ext cx="1828800.0" cy="0"/>
          </a:xfrm>
          <a:prstGeom prst="line">
            <a:avLst/>
          </a:prstGeom>
          <a:ln w="9525">
            <a:solidFill>
              <a:srgbClr val="2E2E2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TextBox 45"/>
          <p:cNvSpPr txBox="1"/>
          <p:nvPr/>
        </p:nvSpPr>
        <p:spPr>
          <a:xfrm>
            <a:off x="5181447" y="3493008"/>
            <a:ext cx="11430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950" b="0" i="0">
                <a:solidFill>
                  <a:srgbClr val="F5F5F3"/>
                </a:solidFill>
                <a:latin typeface="Helvetica Neue"/>
              </a:rPr>
              <a:t>Trunk angle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214719" y="3493008"/>
            <a:ext cx="8229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2000"/>
              </a:lnSpc>
              <a:spcAft>
                <a:spcPts val="500"/>
              </a:spcAft>
            </a:pPr>
            <a:r>
              <a:rPr sz="700" b="1" i="0">
                <a:solidFill>
                  <a:srgbClr val="C9C9C2"/>
                </a:solidFill>
                <a:latin typeface="Menlo"/>
              </a:rPr>
              <a:t>WORK ON</a:t>
            </a:r>
          </a:p>
        </p:txBody>
      </p:sp>
      <p:cxnSp>
        <p:nvCxnSpPr>
          <p:cNvPr id="48" name="Connector 47"/>
          <p:cNvCxnSpPr/>
          <p:nvPr/>
        </p:nvCxnSpPr>
        <p:spPr>
          <a:xfrm>
            <a:off x="5181447.5" y="3767328"/>
            <a:ext cx="1828800.0" cy="0"/>
          </a:xfrm>
          <a:prstGeom prst="line">
            <a:avLst/>
          </a:prstGeom>
          <a:ln w="9525">
            <a:solidFill>
              <a:srgbClr val="2E2E2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TextBox 48"/>
          <p:cNvSpPr txBox="1"/>
          <p:nvPr/>
        </p:nvSpPr>
        <p:spPr>
          <a:xfrm>
            <a:off x="5181447" y="3877056"/>
            <a:ext cx="11430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950" b="0" i="0">
                <a:solidFill>
                  <a:srgbClr val="F5F5F3"/>
                </a:solidFill>
                <a:latin typeface="Helvetica Neue"/>
              </a:rPr>
              <a:t>Cadence · 178 spm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214719" y="3877056"/>
            <a:ext cx="8229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2000"/>
              </a:lnSpc>
              <a:spcAft>
                <a:spcPts val="500"/>
              </a:spcAft>
            </a:pPr>
            <a:r>
              <a:rPr sz="700" b="1" i="0">
                <a:solidFill>
                  <a:srgbClr val="C9C9C2"/>
                </a:solidFill>
                <a:latin typeface="Menlo"/>
              </a:rPr>
              <a:t>TRUSTED</a:t>
            </a:r>
          </a:p>
        </p:txBody>
      </p:sp>
      <p:cxnSp>
        <p:nvCxnSpPr>
          <p:cNvPr id="51" name="Connector 50"/>
          <p:cNvCxnSpPr/>
          <p:nvPr/>
        </p:nvCxnSpPr>
        <p:spPr>
          <a:xfrm>
            <a:off x="5181447.5" y="4151376"/>
            <a:ext cx="1828800.0" cy="0"/>
          </a:xfrm>
          <a:prstGeom prst="line">
            <a:avLst/>
          </a:prstGeom>
          <a:ln w="9525">
            <a:solidFill>
              <a:srgbClr val="2E2E2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TextBox 51"/>
          <p:cNvSpPr txBox="1"/>
          <p:nvPr/>
        </p:nvSpPr>
        <p:spPr>
          <a:xfrm>
            <a:off x="5181447" y="4261104"/>
            <a:ext cx="11430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950" b="0" i="0">
                <a:solidFill>
                  <a:srgbClr val="F5F5F3"/>
                </a:solidFill>
                <a:latin typeface="Helvetica Neue"/>
              </a:rPr>
              <a:t>Contact time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214719" y="4261104"/>
            <a:ext cx="8229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2000"/>
              </a:lnSpc>
              <a:spcAft>
                <a:spcPts val="500"/>
              </a:spcAft>
            </a:pPr>
            <a:r>
              <a:rPr sz="700" b="1" i="0">
                <a:solidFill>
                  <a:srgbClr val="A0A097"/>
                </a:solidFill>
                <a:latin typeface="Menlo"/>
              </a:rPr>
              <a:t>RE-FILM</a:t>
            </a:r>
          </a:p>
        </p:txBody>
      </p:sp>
      <p:cxnSp>
        <p:nvCxnSpPr>
          <p:cNvPr id="54" name="Connector 53"/>
          <p:cNvCxnSpPr/>
          <p:nvPr/>
        </p:nvCxnSpPr>
        <p:spPr>
          <a:xfrm>
            <a:off x="5181447.5" y="4535424"/>
            <a:ext cx="1828800.0" cy="0"/>
          </a:xfrm>
          <a:prstGeom prst="line">
            <a:avLst/>
          </a:prstGeom>
          <a:ln w="9525">
            <a:solidFill>
              <a:srgbClr val="2E2E2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" name="TextBox 54"/>
          <p:cNvSpPr txBox="1"/>
          <p:nvPr/>
        </p:nvSpPr>
        <p:spPr>
          <a:xfrm>
            <a:off x="5181447" y="4690872"/>
            <a:ext cx="18288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800" b="0" i="0">
                <a:solidFill>
                  <a:srgbClr val="A0A097"/>
                </a:solidFill>
                <a:latin typeface="Helvetica Neue"/>
              </a:rPr>
              <a:t>Trusted = certified for this clip's angle, frame rate and tracking.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8162391" y="1572768"/>
            <a:ext cx="2212848" cy="3794760"/>
          </a:xfrm>
          <a:prstGeom prst="roundRect">
            <a:avLst>
              <a:gd name="adj" fmla="val 9000"/>
            </a:avLst>
          </a:prstGeom>
          <a:solidFill>
            <a:srgbClr val="0A0A0A"/>
          </a:solidFill>
          <a:ln w="17780">
            <a:solidFill>
              <a:srgbClr val="F5F5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8354415" y="1764792"/>
            <a:ext cx="19202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850" b="1" i="0">
                <a:solidFill>
                  <a:srgbClr val="A0A097"/>
                </a:solidFill>
                <a:latin typeface="Helvetica Neue"/>
              </a:rPr>
              <a:t>THIS WEEK · YOUR PROGRAM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8354415" y="2103120"/>
            <a:ext cx="155448" cy="155448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8601303" y="2075688"/>
            <a:ext cx="10515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900" b="0" i="0">
                <a:solidFill>
                  <a:srgbClr val="F5F5F3"/>
                </a:solidFill>
                <a:latin typeface="Helvetica Neue"/>
              </a:rPr>
              <a:t>Wall drives — 3×8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9726015" y="2084832"/>
            <a:ext cx="4572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2000"/>
              </a:lnSpc>
              <a:spcAft>
                <a:spcPts val="500"/>
              </a:spcAft>
            </a:pPr>
            <a:r>
              <a:rPr sz="750" b="0" i="0">
                <a:solidFill>
                  <a:srgbClr val="A0A097"/>
                </a:solidFill>
                <a:latin typeface="Menlo"/>
              </a:rPr>
              <a:t>WK 1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8354415" y="2578608"/>
            <a:ext cx="155448" cy="155448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8601303" y="2551176"/>
            <a:ext cx="10515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900" b="0" i="0">
                <a:solidFill>
                  <a:srgbClr val="F5F5F3"/>
                </a:solidFill>
                <a:latin typeface="Helvetica Neue"/>
              </a:rPr>
              <a:t>Heel-to-butt A-skips — 3×8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9726015" y="2560320"/>
            <a:ext cx="4572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2000"/>
              </a:lnSpc>
              <a:spcAft>
                <a:spcPts val="500"/>
              </a:spcAft>
            </a:pPr>
            <a:r>
              <a:rPr sz="750" b="0" i="0">
                <a:solidFill>
                  <a:srgbClr val="A0A097"/>
                </a:solidFill>
                <a:latin typeface="Menlo"/>
              </a:rPr>
              <a:t>WK 1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8354415" y="3054096"/>
            <a:ext cx="155448" cy="155448"/>
          </a:xfrm>
          <a:prstGeom prst="roundRect">
            <a:avLst>
              <a:gd name="adj" fmla="val 20000"/>
            </a:avLst>
          </a:prstGeom>
          <a:noFill/>
          <a:ln w="12700">
            <a:solidFill>
              <a:srgbClr val="A0A0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8601303" y="3026664"/>
            <a:ext cx="10515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900" b="0" i="0">
                <a:solidFill>
                  <a:srgbClr val="F5F5F3"/>
                </a:solidFill>
                <a:latin typeface="Helvetica Neue"/>
              </a:rPr>
              <a:t>Quick-feet intervals — 4×30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9726015" y="3035808"/>
            <a:ext cx="4572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2000"/>
              </a:lnSpc>
              <a:spcAft>
                <a:spcPts val="500"/>
              </a:spcAft>
            </a:pPr>
            <a:r>
              <a:rPr sz="750" b="0" i="0">
                <a:solidFill>
                  <a:srgbClr val="A0A097"/>
                </a:solidFill>
                <a:latin typeface="Menlo"/>
              </a:rPr>
              <a:t>WK 2</a:t>
            </a:r>
          </a:p>
        </p:txBody>
      </p:sp>
      <p:sp>
        <p:nvSpPr>
          <p:cNvPr id="67" name="Rounded Rectangle 66"/>
          <p:cNvSpPr/>
          <p:nvPr/>
        </p:nvSpPr>
        <p:spPr>
          <a:xfrm>
            <a:off x="8354415" y="3529584"/>
            <a:ext cx="155448" cy="155448"/>
          </a:xfrm>
          <a:prstGeom prst="roundRect">
            <a:avLst>
              <a:gd name="adj" fmla="val 20000"/>
            </a:avLst>
          </a:prstGeom>
          <a:noFill/>
          <a:ln w="12700">
            <a:solidFill>
              <a:srgbClr val="A0A0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8601303" y="3502152"/>
            <a:ext cx="10515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900" b="0" i="0">
                <a:solidFill>
                  <a:srgbClr val="F5F5F3"/>
                </a:solidFill>
                <a:latin typeface="Helvetica Neue"/>
              </a:rPr>
              <a:t>Metronome run — 4×30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9726015" y="3511296"/>
            <a:ext cx="4572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2000"/>
              </a:lnSpc>
              <a:spcAft>
                <a:spcPts val="500"/>
              </a:spcAft>
            </a:pPr>
            <a:r>
              <a:rPr sz="750" b="0" i="0">
                <a:solidFill>
                  <a:srgbClr val="A0A097"/>
                </a:solidFill>
                <a:latin typeface="Menlo"/>
              </a:rPr>
              <a:t>WK 2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8354415" y="4023360"/>
            <a:ext cx="18288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800" b="0" i="0">
                <a:solidFill>
                  <a:srgbClr val="A0A097"/>
                </a:solidFill>
                <a:latin typeface="Helvetica Neue"/>
              </a:rPr>
              <a:t>Built from your faults — volume progresses weekly, adapted to level and injury status.</a:t>
            </a:r>
          </a:p>
        </p:txBody>
      </p:sp>
      <p:sp>
        <p:nvSpPr>
          <p:cNvPr id="71" name="Rounded Rectangle 70"/>
          <p:cNvSpPr/>
          <p:nvPr/>
        </p:nvSpPr>
        <p:spPr>
          <a:xfrm>
            <a:off x="8354415" y="4828032"/>
            <a:ext cx="1828800" cy="347472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8354415" y="4892040"/>
            <a:ext cx="18288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2000"/>
              </a:lnSpc>
              <a:spcAft>
                <a:spcPts val="500"/>
              </a:spcAft>
            </a:pPr>
            <a:r>
              <a:rPr sz="950" b="1" i="0">
                <a:solidFill>
                  <a:srgbClr val="050505"/>
                </a:solidFill>
                <a:latin typeface="Helvetica Neue"/>
              </a:rPr>
              <a:t>Mark complete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1542135" y="5495544"/>
            <a:ext cx="276148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2000"/>
              </a:lnSpc>
              <a:spcAft>
                <a:spcPts val="500"/>
              </a:spcAft>
            </a:pPr>
            <a:r>
              <a:rPr sz="1100" b="1" i="0">
                <a:solidFill>
                  <a:srgbClr val="FFFFFF"/>
                </a:solidFill>
                <a:latin typeface="Helvetica Neue"/>
              </a:rPr>
              <a:t>FILM — any phone · side-on · 12 s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4715103" y="5495544"/>
            <a:ext cx="276148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2000"/>
              </a:lnSpc>
              <a:spcAft>
                <a:spcPts val="500"/>
              </a:spcAft>
            </a:pPr>
            <a:r>
              <a:rPr sz="1100" b="1" i="0">
                <a:solidFill>
                  <a:srgbClr val="FFFFFF"/>
                </a:solidFill>
                <a:latin typeface="Helvetica Neue"/>
              </a:rPr>
              <a:t>MEASURE — 11 metrics · trust-labeled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7888071" y="5495544"/>
            <a:ext cx="276148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2000"/>
              </a:lnSpc>
              <a:spcAft>
                <a:spcPts val="500"/>
              </a:spcAft>
            </a:pPr>
            <a:r>
              <a:rPr sz="1100" b="1" i="0">
                <a:solidFill>
                  <a:srgbClr val="FFFFFF"/>
                </a:solidFill>
                <a:latin typeface="Helvetica Neue"/>
              </a:rPr>
              <a:t>FIX — faults become programs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566928" y="6419088"/>
            <a:ext cx="1105783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950" b="0" i="0">
                <a:solidFill>
                  <a:srgbClr val="A0A097"/>
                </a:solidFill>
                <a:latin typeface="Helvetica Neue"/>
              </a:rPr>
              <a:t>Screens shown are the shipping app's actual layouts. Provisional patent prepared on the trust-certification method.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mark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365760"/>
            <a:ext cx="210165" cy="173736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68680" y="347472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100" b="1" i="0">
                <a:solidFill>
                  <a:srgbClr val="A0A097"/>
                </a:solidFill>
                <a:latin typeface="Helvetica Neue"/>
              </a:rPr>
              <a:t>PROOF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27487" y="347472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2000"/>
              </a:lnSpc>
              <a:spcAft>
                <a:spcPts val="500"/>
              </a:spcAft>
            </a:pPr>
            <a:r>
              <a:rPr sz="1100" b="0" i="0">
                <a:solidFill>
                  <a:srgbClr val="A0A097"/>
                </a:solidFill>
                <a:latin typeface="Menlo"/>
              </a:rPr>
              <a:t>04 / 13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66928" y="658368"/>
            <a:ext cx="11057839" cy="0"/>
          </a:xfrm>
          <a:prstGeom prst="line">
            <a:avLst/>
          </a:prstGeom>
          <a:ln w="12700">
            <a:solidFill>
              <a:srgbClr val="2E2E2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566928" y="658368"/>
            <a:ext cx="502920" cy="0"/>
          </a:xfrm>
          <a:prstGeom prst="line">
            <a:avLst/>
          </a:prstGeom>
          <a:ln w="22860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66928" y="859536"/>
            <a:ext cx="11057839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500"/>
              </a:spcAft>
            </a:pPr>
            <a:r>
              <a:rPr sz="2700" b="1" i="0">
                <a:solidFill>
                  <a:srgbClr val="F5F5F3"/>
                </a:solidFill>
                <a:latin typeface="Helvetica Neue"/>
              </a:rPr>
              <a:t>Shipped to production on $0 raised.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1691640"/>
            <a:ext cx="5414619" cy="3566160"/>
          </a:xfrm>
          <a:prstGeom prst="roundRect">
            <a:avLst>
              <a:gd name="adj" fmla="val 3500"/>
            </a:avLst>
          </a:prstGeom>
          <a:solidFill>
            <a:srgbClr val="0E0E0E"/>
          </a:solidFill>
          <a:ln w="12700">
            <a:solidFill>
              <a:srgbClr val="2E2E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86384" y="1874520"/>
            <a:ext cx="4975707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000" b="1" i="0">
                <a:solidFill>
                  <a:srgbClr val="FFFFFF"/>
                </a:solidFill>
                <a:latin typeface="Helvetica Neue"/>
              </a:rPr>
              <a:t>BUILT — AND PROVABLE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86384" y="2258568"/>
            <a:ext cx="4975707" cy="2834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1200"/>
              </a:spcAft>
            </a:pPr>
            <a:r>
              <a:rPr sz="1200" b="1" i="0">
                <a:solidFill>
                  <a:srgbClr val="FFFFFF"/>
                </a:solidFill>
                <a:latin typeface="Helvetica Neue"/>
              </a:rPr>
              <a:t>•  </a:t>
            </a:r>
            <a:r>
              <a:rPr sz="1250" b="1" i="0">
                <a:solidFill>
                  <a:srgbClr val="F5F5F3"/>
                </a:solidFill>
                <a:latin typeface="Helvetica Neue"/>
              </a:rPr>
              <a:t>App-Store-ready product: </a:t>
            </a:r>
            <a:r>
              <a:rPr sz="1250" b="0" i="0">
                <a:solidFill>
                  <a:srgbClr val="F5F5F3"/>
                </a:solidFill>
                <a:latin typeface="Helvetica Neue"/>
              </a:rPr>
              <a:t>capture → score → program.</a:t>
            </a:r>
          </a:p>
          <a:p>
            <a:pPr algn="l">
              <a:lnSpc>
                <a:spcPct val="118000"/>
              </a:lnSpc>
              <a:spcAft>
                <a:spcPts val="1200"/>
              </a:spcAft>
            </a:pPr>
            <a:r>
              <a:rPr sz="1200" b="1" i="0">
                <a:solidFill>
                  <a:srgbClr val="FFFFFF"/>
                </a:solidFill>
                <a:latin typeface="Helvetica Neue"/>
              </a:rPr>
              <a:t>•  </a:t>
            </a:r>
            <a:r>
              <a:rPr sz="1250" b="1" i="0">
                <a:solidFill>
                  <a:srgbClr val="F5F5F3"/>
                </a:solidFill>
                <a:latin typeface="Helvetica Neue"/>
              </a:rPr>
              <a:t>Verified: </a:t>
            </a:r>
            <a:r>
              <a:rPr sz="1250" b="0" i="0">
                <a:solidFill>
                  <a:srgbClr val="F5F5F3"/>
                </a:solidFill>
                <a:latin typeface="Helvetica Neue"/>
              </a:rPr>
              <a:t>180 spm ground truth read at 179.2 — 0.4% error.</a:t>
            </a:r>
          </a:p>
          <a:p>
            <a:pPr algn="l">
              <a:lnSpc>
                <a:spcPct val="118000"/>
              </a:lnSpc>
              <a:spcAft>
                <a:spcPts val="1200"/>
              </a:spcAft>
            </a:pPr>
            <a:r>
              <a:rPr sz="1200" b="1" i="0">
                <a:solidFill>
                  <a:srgbClr val="FFFFFF"/>
                </a:solidFill>
                <a:latin typeface="Helvetica Neue"/>
              </a:rPr>
              <a:t>•  </a:t>
            </a:r>
            <a:r>
              <a:rPr sz="1250" b="0" i="0">
                <a:solidFill>
                  <a:srgbClr val="F5F5F3"/>
                </a:solidFill>
                <a:latin typeface="Helvetica Neue"/>
              </a:rPr>
              <a:t>263 automated tests · ≈2¢ compute per analysis.</a:t>
            </a:r>
          </a:p>
          <a:p>
            <a:pPr algn="l">
              <a:lnSpc>
                <a:spcPct val="118000"/>
              </a:lnSpc>
              <a:spcAft>
                <a:spcPts val="1200"/>
              </a:spcAft>
            </a:pPr>
            <a:r>
              <a:rPr sz="1200" b="1" i="0">
                <a:solidFill>
                  <a:srgbClr val="FFFFFF"/>
                </a:solidFill>
                <a:latin typeface="Helvetica Neue"/>
              </a:rPr>
              <a:t>•  </a:t>
            </a:r>
            <a:r>
              <a:rPr sz="1250" b="0" i="0">
                <a:solidFill>
                  <a:srgbClr val="F5F5F3"/>
                </a:solidFill>
                <a:latin typeface="Helvetica Neue"/>
              </a:rPr>
              <a:t>Provisional patent prepared on the core methods.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0147" y="1691640"/>
            <a:ext cx="5414619" cy="3566160"/>
          </a:xfrm>
          <a:prstGeom prst="roundRect">
            <a:avLst>
              <a:gd name="adj" fmla="val 3500"/>
            </a:avLst>
          </a:prstGeom>
          <a:solidFill>
            <a:srgbClr val="0E0E0E"/>
          </a:solidFill>
          <a:ln w="12700">
            <a:solidFill>
              <a:srgbClr val="2E2E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29603" y="1874520"/>
            <a:ext cx="4975707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000" b="1" i="0">
                <a:solidFill>
                  <a:srgbClr val="FFFFFF"/>
                </a:solidFill>
                <a:latin typeface="Helvetica Neue"/>
              </a:rPr>
              <a:t>DEMAND — LABELED PRECISELY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29603" y="2258568"/>
            <a:ext cx="4975707" cy="2834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1200"/>
              </a:spcAft>
            </a:pPr>
            <a:r>
              <a:rPr sz="1200" b="1" i="0">
                <a:solidFill>
                  <a:srgbClr val="FFFFFF"/>
                </a:solidFill>
                <a:latin typeface="Helvetica Neue"/>
              </a:rPr>
              <a:t>•  </a:t>
            </a:r>
            <a:r>
              <a:rPr sz="1250" b="1" i="0">
                <a:solidFill>
                  <a:srgbClr val="F5F5F3"/>
                </a:solidFill>
                <a:latin typeface="Helvetica Neue"/>
              </a:rPr>
              <a:t>In pilot:  </a:t>
            </a:r>
            <a:r>
              <a:rPr sz="1200" b="1" i="1">
                <a:solidFill>
                  <a:srgbClr val="A0A097"/>
                </a:solidFill>
                <a:latin typeface="Helvetica Neue"/>
              </a:rPr>
              <a:t>‹ N athletes · N SD clubs ›</a:t>
            </a:r>
          </a:p>
          <a:p>
            <a:pPr algn="l">
              <a:lnSpc>
                <a:spcPct val="118000"/>
              </a:lnSpc>
              <a:spcAft>
                <a:spcPts val="1200"/>
              </a:spcAft>
            </a:pPr>
            <a:r>
              <a:rPr sz="1200" b="1" i="0">
                <a:solidFill>
                  <a:srgbClr val="FFFFFF"/>
                </a:solidFill>
                <a:latin typeface="Helvetica Neue"/>
              </a:rPr>
              <a:t>•  </a:t>
            </a:r>
            <a:r>
              <a:rPr sz="1250" b="1" i="0">
                <a:solidFill>
                  <a:srgbClr val="F5F5F3"/>
                </a:solidFill>
                <a:latin typeface="Helvetica Neue"/>
              </a:rPr>
              <a:t>LOIs signed:  </a:t>
            </a:r>
            <a:r>
              <a:rPr sz="1200" b="1" i="1">
                <a:solidFill>
                  <a:srgbClr val="A0A097"/>
                </a:solidFill>
                <a:latin typeface="Helvetica Neue"/>
              </a:rPr>
              <a:t>‹ N coaches · N athletes · 2026–27 ›</a:t>
            </a:r>
          </a:p>
          <a:p>
            <a:pPr algn="l">
              <a:lnSpc>
                <a:spcPct val="118000"/>
              </a:lnSpc>
              <a:spcAft>
                <a:spcPts val="1200"/>
              </a:spcAft>
            </a:pPr>
            <a:r>
              <a:rPr sz="1200" b="1" i="0">
                <a:solidFill>
                  <a:srgbClr val="FFFFFF"/>
                </a:solidFill>
                <a:latin typeface="Helvetica Neue"/>
              </a:rPr>
              <a:t>•  </a:t>
            </a:r>
            <a:r>
              <a:rPr sz="1250" b="1" i="0">
                <a:solidFill>
                  <a:srgbClr val="F5F5F3"/>
                </a:solidFill>
                <a:latin typeface="Helvetica Neue"/>
              </a:rPr>
              <a:t>Waitlist:  </a:t>
            </a:r>
            <a:r>
              <a:rPr sz="1200" b="1" i="1">
                <a:solidFill>
                  <a:srgbClr val="A0A097"/>
                </a:solidFill>
                <a:latin typeface="Helvetica Neue"/>
              </a:rPr>
              <a:t>‹ N signups + channel + conversion ›</a:t>
            </a:r>
          </a:p>
          <a:p>
            <a:pPr algn="l">
              <a:lnSpc>
                <a:spcPct val="118000"/>
              </a:lnSpc>
              <a:spcAft>
                <a:spcPts val="1200"/>
              </a:spcAft>
            </a:pPr>
            <a:r>
              <a:rPr sz="1200" b="1" i="0">
                <a:solidFill>
                  <a:srgbClr val="FFFFFF"/>
                </a:solidFill>
                <a:latin typeface="Helvetica Neue"/>
              </a:rPr>
              <a:t>•  </a:t>
            </a:r>
            <a:r>
              <a:rPr sz="1250" b="1" i="0">
                <a:solidFill>
                  <a:srgbClr val="F5F5F3"/>
                </a:solidFill>
                <a:latin typeface="Helvetica Neue"/>
              </a:rPr>
              <a:t>Discovery:  </a:t>
            </a:r>
            <a:r>
              <a:rPr sz="1200" b="1" i="1">
                <a:solidFill>
                  <a:srgbClr val="A0A097"/>
                </a:solidFill>
                <a:latin typeface="Helvetica Neue"/>
              </a:rPr>
              <a:t>‹ N interviews · top recurring pain ›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6928" y="6419088"/>
            <a:ext cx="1105783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950" b="0" i="0">
                <a:solidFill>
                  <a:srgbClr val="A0A097"/>
                </a:solidFill>
                <a:latin typeface="Helvetica Neue"/>
              </a:rPr>
              <a:t>Labeled by strength — pilot &gt; LOI &gt; waitlist &gt; interviews. Real numbers only; small and real beats big and vague.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mark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365760"/>
            <a:ext cx="210165" cy="173736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68680" y="347472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100" b="1" i="0">
                <a:solidFill>
                  <a:srgbClr val="A0A097"/>
                </a:solidFill>
                <a:latin typeface="Helvetica Neue"/>
              </a:rPr>
              <a:t>TEAM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27487" y="347472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2000"/>
              </a:lnSpc>
              <a:spcAft>
                <a:spcPts val="500"/>
              </a:spcAft>
            </a:pPr>
            <a:r>
              <a:rPr sz="1100" b="0" i="0">
                <a:solidFill>
                  <a:srgbClr val="A0A097"/>
                </a:solidFill>
                <a:latin typeface="Menlo"/>
              </a:rPr>
              <a:t>05 / 13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66928" y="658368"/>
            <a:ext cx="11057839" cy="0"/>
          </a:xfrm>
          <a:prstGeom prst="line">
            <a:avLst/>
          </a:prstGeom>
          <a:ln w="12700">
            <a:solidFill>
              <a:srgbClr val="2E2E2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566928" y="658368"/>
            <a:ext cx="502920" cy="0"/>
          </a:xfrm>
          <a:prstGeom prst="line">
            <a:avLst/>
          </a:prstGeom>
          <a:ln w="22860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66928" y="859536"/>
            <a:ext cx="11057839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500"/>
              </a:spcAft>
            </a:pPr>
            <a:r>
              <a:rPr sz="2700" b="1" i="0">
                <a:solidFill>
                  <a:srgbClr val="F5F5F3"/>
                </a:solidFill>
                <a:latin typeface="Helvetica Neue"/>
              </a:rPr>
              <a:t>Two founders who already shipped what funded teams ship.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1691640"/>
            <a:ext cx="5414619" cy="3566160"/>
          </a:xfrm>
          <a:prstGeom prst="roundRect">
            <a:avLst>
              <a:gd name="adj" fmla="val 3500"/>
            </a:avLst>
          </a:prstGeom>
          <a:solidFill>
            <a:srgbClr val="0E0E0E"/>
          </a:solidFill>
          <a:ln w="12700">
            <a:solidFill>
              <a:srgbClr val="2E2E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786384" y="1929384"/>
            <a:ext cx="868680" cy="868680"/>
          </a:xfrm>
          <a:prstGeom prst="roundRect">
            <a:avLst>
              <a:gd name="adj" fmla="val 8000"/>
            </a:avLst>
          </a:prstGeom>
          <a:solidFill>
            <a:srgbClr val="1A1A17"/>
          </a:solidFill>
          <a:ln w="12700">
            <a:solidFill>
              <a:srgbClr val="A0A0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04672" y="2258568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2000"/>
              </a:lnSpc>
              <a:spcAft>
                <a:spcPts val="500"/>
              </a:spcAft>
            </a:pPr>
            <a:r>
              <a:rPr sz="750" b="1" i="0">
                <a:solidFill>
                  <a:srgbClr val="A0A097"/>
                </a:solidFill>
                <a:latin typeface="Helvetica Neue"/>
              </a:rPr>
              <a:t>PHOTO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0147" y="1691640"/>
            <a:ext cx="5414619" cy="3566160"/>
          </a:xfrm>
          <a:prstGeom prst="roundRect">
            <a:avLst>
              <a:gd name="adj" fmla="val 3500"/>
            </a:avLst>
          </a:prstGeom>
          <a:solidFill>
            <a:srgbClr val="0E0E0E"/>
          </a:solidFill>
          <a:ln w="12700">
            <a:solidFill>
              <a:srgbClr val="2E2E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429603" y="1929384"/>
            <a:ext cx="868680" cy="868680"/>
          </a:xfrm>
          <a:prstGeom prst="roundRect">
            <a:avLst>
              <a:gd name="adj" fmla="val 8000"/>
            </a:avLst>
          </a:prstGeom>
          <a:solidFill>
            <a:srgbClr val="1A1A17"/>
          </a:solidFill>
          <a:ln w="12700">
            <a:solidFill>
              <a:srgbClr val="A0A0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47891" y="2258568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2000"/>
              </a:lnSpc>
              <a:spcAft>
                <a:spcPts val="500"/>
              </a:spcAft>
            </a:pPr>
            <a:r>
              <a:rPr sz="750" b="1" i="0">
                <a:solidFill>
                  <a:srgbClr val="A0A097"/>
                </a:solidFill>
                <a:latin typeface="Helvetica Neue"/>
              </a:rPr>
              <a:t>PHOTO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847088" y="1929384"/>
            <a:ext cx="3905859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950" b="1" i="0">
                <a:solidFill>
                  <a:srgbClr val="FFFFFF"/>
                </a:solidFill>
                <a:latin typeface="Helvetica Neue"/>
              </a:rPr>
              <a:t>FOUNDER · CEO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847088" y="2167128"/>
            <a:ext cx="390585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500" b="1" i="0">
                <a:solidFill>
                  <a:srgbClr val="F5F5F3"/>
                </a:solidFill>
                <a:latin typeface="Helvetica Neue"/>
              </a:rPr>
              <a:t>Adhiban Arulselvan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86384" y="3063240"/>
            <a:ext cx="4975707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1000"/>
              </a:spcAft>
            </a:pPr>
            <a:r>
              <a:rPr sz="1150" b="1" i="0">
                <a:solidFill>
                  <a:srgbClr val="FFFFFF"/>
                </a:solidFill>
                <a:latin typeface="Helvetica Neue"/>
              </a:rPr>
              <a:t>•  </a:t>
            </a:r>
            <a:r>
              <a:rPr sz="1150" b="1" i="0">
                <a:solidFill>
                  <a:srgbClr val="F5F5F3"/>
                </a:solidFill>
                <a:latin typeface="Helvetica Neue"/>
              </a:rPr>
              <a:t>Built the entire production stack solo</a:t>
            </a:r>
            <a:r>
              <a:rPr sz="1150" b="0" i="0">
                <a:solidFill>
                  <a:srgbClr val="F5F5F3"/>
                </a:solidFill>
                <a:latin typeface="Helvetica Neue"/>
              </a:rPr>
              <a:t> — CV engine, trust gating, iOS app, cloud.</a:t>
            </a:r>
          </a:p>
          <a:p>
            <a:pPr algn="l">
              <a:lnSpc>
                <a:spcPct val="118000"/>
              </a:lnSpc>
              <a:spcAft>
                <a:spcPts val="1000"/>
              </a:spcAft>
            </a:pPr>
            <a:r>
              <a:rPr sz="1150" b="1" i="0">
                <a:solidFill>
                  <a:srgbClr val="FFFFFF"/>
                </a:solidFill>
                <a:latin typeface="Helvetica Neue"/>
              </a:rPr>
              <a:t>•  </a:t>
            </a:r>
            <a:r>
              <a:rPr sz="1150" b="0" i="0">
                <a:solidFill>
                  <a:srgbClr val="F5F5F3"/>
                </a:solidFill>
                <a:latin typeface="Helvetica Neue"/>
              </a:rPr>
              <a:t>Prior invention: NeuroStimulate — USPTO provisional filed 2026; Kaiser-recognized.</a:t>
            </a:r>
          </a:p>
          <a:p>
            <a:pPr algn="l">
              <a:lnSpc>
                <a:spcPct val="118000"/>
              </a:lnSpc>
              <a:spcAft>
                <a:spcPts val="1000"/>
              </a:spcAft>
            </a:pPr>
            <a:r>
              <a:rPr sz="1150" b="1" i="0">
                <a:solidFill>
                  <a:srgbClr val="FFFFFF"/>
                </a:solidFill>
                <a:latin typeface="Helvetica Neue"/>
              </a:rPr>
              <a:t>•  </a:t>
            </a:r>
            <a:r>
              <a:rPr sz="1150" b="0" i="0">
                <a:solidFill>
                  <a:srgbClr val="F5F5F3"/>
                </a:solidFill>
                <a:latin typeface="Helvetica Neue"/>
              </a:rPr>
              <a:t>Contributor, MIT-led patent drafting team.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490307" y="1929384"/>
            <a:ext cx="3905859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950" b="1" i="0">
                <a:solidFill>
                  <a:srgbClr val="FFFFFF"/>
                </a:solidFill>
                <a:latin typeface="Helvetica Neue"/>
              </a:rPr>
              <a:t>COFOUNDER · </a:t>
            </a:r>
            <a:r>
              <a:rPr sz="950" b="1" i="1">
                <a:solidFill>
                  <a:srgbClr val="A0A097"/>
                </a:solidFill>
                <a:latin typeface="Helvetica Neue"/>
              </a:rPr>
              <a:t>‹ title ›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490307" y="2167128"/>
            <a:ext cx="390585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300" b="1" i="1">
                <a:solidFill>
                  <a:srgbClr val="A0A097"/>
                </a:solidFill>
                <a:latin typeface="Helvetica Neue"/>
              </a:rPr>
              <a:t>‹ Full name ›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29603" y="3063240"/>
            <a:ext cx="4975707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1000"/>
              </a:spcAft>
            </a:pPr>
            <a:r>
              <a:rPr sz="1150" b="1" i="0">
                <a:solidFill>
                  <a:srgbClr val="FFFFFF"/>
                </a:solidFill>
                <a:latin typeface="Helvetica Neue"/>
              </a:rPr>
              <a:t>•  </a:t>
            </a:r>
            <a:r>
              <a:rPr sz="1150" b="1" i="1">
                <a:solidFill>
                  <a:srgbClr val="A0A097"/>
                </a:solidFill>
                <a:latin typeface="Helvetica Neue"/>
              </a:rPr>
              <a:t>‹ 1–3 specific achievements, with numbers ›</a:t>
            </a:r>
          </a:p>
          <a:p>
            <a:pPr algn="l">
              <a:lnSpc>
                <a:spcPct val="118000"/>
              </a:lnSpc>
              <a:spcAft>
                <a:spcPts val="1000"/>
              </a:spcAft>
            </a:pPr>
            <a:r>
              <a:rPr sz="1150" b="1" i="0">
                <a:solidFill>
                  <a:srgbClr val="FFFFFF"/>
                </a:solidFill>
                <a:latin typeface="Helvetica Neue"/>
              </a:rPr>
              <a:t>•  </a:t>
            </a:r>
            <a:r>
              <a:rPr sz="1150" b="1" i="1">
                <a:solidFill>
                  <a:srgbClr val="A0A097"/>
                </a:solidFill>
                <a:latin typeface="Helvetica Neue"/>
              </a:rPr>
              <a:t>‹ Relationship to track &amp; field / the customer ›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29603" y="4297680"/>
            <a:ext cx="4975707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950" b="1" i="0">
                <a:solidFill>
                  <a:srgbClr val="FFFFFF"/>
                </a:solidFill>
                <a:latin typeface="Helvetica Neue"/>
              </a:rPr>
              <a:t>ADVISORS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29603" y="4544568"/>
            <a:ext cx="4975707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100" b="1" i="1">
                <a:solidFill>
                  <a:srgbClr val="A0A097"/>
                </a:solidFill>
                <a:latin typeface="Helvetica Neue"/>
              </a:rPr>
              <a:t>‹ assembling via TiE SD &amp; SD Sport Innovators ›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66928" y="6419088"/>
            <a:ext cx="1105783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950" b="0" i="0">
                <a:solidFill>
                  <a:srgbClr val="A0A097"/>
                </a:solidFill>
                <a:latin typeface="Helvetica Neue"/>
              </a:rPr>
              <a:t>Founder-market fit: we are the athletes this is built for, inside the community it launches into.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mark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365760"/>
            <a:ext cx="210165" cy="173736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68680" y="347472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100" b="1" i="0">
                <a:solidFill>
                  <a:srgbClr val="A0A097"/>
                </a:solidFill>
                <a:latin typeface="Helvetica Neue"/>
              </a:rPr>
              <a:t>WHY NOW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27487" y="347472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2000"/>
              </a:lnSpc>
              <a:spcAft>
                <a:spcPts val="500"/>
              </a:spcAft>
            </a:pPr>
            <a:r>
              <a:rPr sz="1100" b="0" i="0">
                <a:solidFill>
                  <a:srgbClr val="A0A097"/>
                </a:solidFill>
                <a:latin typeface="Menlo"/>
              </a:rPr>
              <a:t>06 / 13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66928" y="658368"/>
            <a:ext cx="11057839" cy="0"/>
          </a:xfrm>
          <a:prstGeom prst="line">
            <a:avLst/>
          </a:prstGeom>
          <a:ln w="12700">
            <a:solidFill>
              <a:srgbClr val="2E2E2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566928" y="658368"/>
            <a:ext cx="502920" cy="0"/>
          </a:xfrm>
          <a:prstGeom prst="line">
            <a:avLst/>
          </a:prstGeom>
          <a:ln w="22860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66928" y="859536"/>
            <a:ext cx="11057839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500"/>
              </a:spcAft>
            </a:pPr>
            <a:r>
              <a:rPr sz="2700" b="1" i="0">
                <a:solidFill>
                  <a:srgbClr val="F5F5F3"/>
                </a:solidFill>
                <a:latin typeface="Helvetica Neue"/>
              </a:rPr>
              <a:t>Three shifts converged. The running vertical is still unclaimed.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1828800"/>
            <a:ext cx="3533546" cy="3017520"/>
          </a:xfrm>
          <a:prstGeom prst="roundRect">
            <a:avLst>
              <a:gd name="adj" fmla="val 3500"/>
            </a:avLst>
          </a:prstGeom>
          <a:solidFill>
            <a:srgbClr val="0E0E0E"/>
          </a:solidFill>
          <a:ln w="12700">
            <a:solidFill>
              <a:srgbClr val="2E2E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68096" y="1993392"/>
            <a:ext cx="313121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950" b="1" i="0">
                <a:solidFill>
                  <a:srgbClr val="FFFFFF"/>
                </a:solidFill>
                <a:latin typeface="Helvetica Neue"/>
              </a:rPr>
              <a:t>COST CURVE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8096" y="2286000"/>
            <a:ext cx="313121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1400" b="1" i="0">
                <a:solidFill>
                  <a:srgbClr val="F5F5F3"/>
                </a:solidFill>
                <a:latin typeface="Helvetica Neue"/>
              </a:rPr>
              <a:t>Lab-grade pose went commodity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8096" y="2670048"/>
            <a:ext cx="3131210" cy="2057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500"/>
              </a:spcAft>
            </a:pPr>
            <a:r>
              <a:rPr sz="1100" b="0" i="0">
                <a:solidFill>
                  <a:srgbClr val="A0A097"/>
                </a:solidFill>
                <a:latin typeface="Helvetica Neue"/>
              </a:rPr>
              <a:t>Markerless 2D pose now hits ~3–5° accuracy from one view — on ≈2¢ of CPU. That analysis cost $200+ three years ago.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29074" y="1828800"/>
            <a:ext cx="3533546" cy="3017520"/>
          </a:xfrm>
          <a:prstGeom prst="roundRect">
            <a:avLst>
              <a:gd name="adj" fmla="val 3500"/>
            </a:avLst>
          </a:prstGeom>
          <a:solidFill>
            <a:srgbClr val="0E0E0E"/>
          </a:solidFill>
          <a:ln w="12700">
            <a:solidFill>
              <a:srgbClr val="2E2E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30242" y="1993392"/>
            <a:ext cx="313121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950" b="1" i="0">
                <a:solidFill>
                  <a:srgbClr val="FFFFFF"/>
                </a:solidFill>
                <a:latin typeface="Helvetica Neue"/>
              </a:rPr>
              <a:t>HARDWARE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30242" y="2286000"/>
            <a:ext cx="313121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1400" b="1" i="0">
                <a:solidFill>
                  <a:srgbClr val="F5F5F3"/>
                </a:solidFill>
                <a:latin typeface="Helvetica Neue"/>
              </a:rPr>
              <a:t>240fps in every gym bag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30242" y="2670048"/>
            <a:ext cx="3131210" cy="2057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500"/>
              </a:spcAft>
            </a:pPr>
            <a:r>
              <a:rPr sz="1100" b="0" i="0">
                <a:solidFill>
                  <a:srgbClr val="A0A097"/>
                </a:solidFill>
                <a:latin typeface="Helvetica Neue"/>
              </a:rPr>
              <a:t>Honest contact-time and cadence need high-frame-rate video. Now a default phone feature.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91220" y="1828800"/>
            <a:ext cx="3533546" cy="3017520"/>
          </a:xfrm>
          <a:prstGeom prst="roundRect">
            <a:avLst>
              <a:gd name="adj" fmla="val 3500"/>
            </a:avLst>
          </a:prstGeom>
          <a:solidFill>
            <a:srgbClr val="0E0E0E"/>
          </a:solidFill>
          <a:ln w="12700">
            <a:solidFill>
              <a:srgbClr val="2E2E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92388" y="1993392"/>
            <a:ext cx="313121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950" b="1" i="0">
                <a:solidFill>
                  <a:srgbClr val="FFFFFF"/>
                </a:solidFill>
                <a:latin typeface="Helvetica Neue"/>
              </a:rPr>
              <a:t>CAPITAL PROOF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92388" y="2286000"/>
            <a:ext cx="313121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1400" b="1" i="0">
                <a:solidFill>
                  <a:srgbClr val="F5F5F3"/>
                </a:solidFill>
                <a:latin typeface="Helvetica Neue"/>
              </a:rPr>
              <a:t>The category funds and exits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92388" y="2670048"/>
            <a:ext cx="3131210" cy="2057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500"/>
              </a:spcAft>
            </a:pPr>
            <a:r>
              <a:rPr sz="1100" b="0" i="0">
                <a:solidFill>
                  <a:srgbClr val="A0A097"/>
                </a:solidFill>
                <a:latin typeface="Helvetica Neue"/>
              </a:rPr>
              <a:t>Sportsbox AI: acquired 2026, eight figures. Ochy: $1.7M pre-seed + adidas deal. SwingVision: 20K subs, $4M ARR.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66928" y="6419088"/>
            <a:ext cx="1105783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950" b="0" i="0">
                <a:solidFill>
                  <a:srgbClr val="A0A097"/>
                </a:solidFill>
                <a:latin typeface="Helvetica Neue"/>
              </a:rPr>
              <a:t>Funded comps play golf, tennis or distance jogging — nobody owns sprint &amp; running form.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mark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365760"/>
            <a:ext cx="210165" cy="173736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68680" y="347472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100" b="1" i="0">
                <a:solidFill>
                  <a:srgbClr val="A0A097"/>
                </a:solidFill>
                <a:latin typeface="Helvetica Neue"/>
              </a:rPr>
              <a:t>MARKET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27487" y="347472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2000"/>
              </a:lnSpc>
              <a:spcAft>
                <a:spcPts val="500"/>
              </a:spcAft>
            </a:pPr>
            <a:r>
              <a:rPr sz="1100" b="0" i="0">
                <a:solidFill>
                  <a:srgbClr val="A0A097"/>
                </a:solidFill>
                <a:latin typeface="Menlo"/>
              </a:rPr>
              <a:t>07 / 13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66928" y="658368"/>
            <a:ext cx="11057839" cy="0"/>
          </a:xfrm>
          <a:prstGeom prst="line">
            <a:avLst/>
          </a:prstGeom>
          <a:ln w="12700">
            <a:solidFill>
              <a:srgbClr val="2E2E2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566928" y="658368"/>
            <a:ext cx="502920" cy="0"/>
          </a:xfrm>
          <a:prstGeom prst="line">
            <a:avLst/>
          </a:prstGeom>
          <a:ln w="22860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66928" y="859536"/>
            <a:ext cx="11057839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500"/>
              </a:spcAft>
            </a:pPr>
            <a:r>
              <a:rPr sz="2700" b="1" i="0">
                <a:solidFill>
                  <a:srgbClr val="F5F5F3"/>
                </a:solidFill>
                <a:latin typeface="Helvetica Neue"/>
              </a:rPr>
              <a:t>A $135M wedge, computed bottom-up — inside a $12B market.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2011680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200" b="1" i="0">
                <a:solidFill>
                  <a:srgbClr val="A0A097"/>
                </a:solidFill>
                <a:latin typeface="Menlo"/>
              </a:rPr>
              <a:t>TAM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344168" y="1920240"/>
            <a:ext cx="10280599" cy="566928"/>
          </a:xfrm>
          <a:prstGeom prst="roundRect">
            <a:avLst>
              <a:gd name="adj" fmla="val 6000"/>
            </a:avLst>
          </a:prstGeom>
          <a:solidFill>
            <a:srgbClr val="1A1A17"/>
          </a:solidFill>
          <a:ln w="12700">
            <a:solidFill>
              <a:srgbClr val="2E2E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554480" y="2039112"/>
            <a:ext cx="977767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350" b="1" i="0">
                <a:solidFill>
                  <a:srgbClr val="F5F5F3"/>
                </a:solidFill>
                <a:latin typeface="Helvetica Neue"/>
              </a:rPr>
              <a:t>Fitness apps — $9.8–12.1B global, 2025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54480" y="2542032"/>
            <a:ext cx="977767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050" b="0" i="0">
                <a:solidFill>
                  <a:srgbClr val="A0A097"/>
                </a:solidFill>
                <a:latin typeface="Helvetica Neue"/>
              </a:rPr>
              <a:t>Grand View / Vantage; $33B+ by 2033.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3182112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200" b="1" i="0">
                <a:solidFill>
                  <a:srgbClr val="A0A097"/>
                </a:solidFill>
                <a:latin typeface="Menlo"/>
              </a:rPr>
              <a:t>SAM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344168" y="3090672"/>
            <a:ext cx="5757135" cy="566928"/>
          </a:xfrm>
          <a:prstGeom prst="roundRect">
            <a:avLst>
              <a:gd name="adj" fmla="val 6000"/>
            </a:avLst>
          </a:prstGeom>
          <a:solidFill>
            <a:srgbClr val="1A1A17"/>
          </a:solidFill>
          <a:ln w="12700">
            <a:solidFill>
              <a:srgbClr val="2E2E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554480" y="3209544"/>
            <a:ext cx="977767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350" b="1" i="0">
                <a:solidFill>
                  <a:srgbClr val="F5F5F3"/>
                </a:solidFill>
                <a:latin typeface="Helvetica Neue"/>
              </a:rPr>
              <a:t>US fitness-app spend — ≈$4B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54480" y="3712464"/>
            <a:ext cx="977767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050" b="0" i="0">
                <a:solidFill>
                  <a:srgbClr val="A0A097"/>
                </a:solidFill>
                <a:latin typeface="Helvetica Neue"/>
              </a:rPr>
              <a:t>Runners are its largest cohort.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66928" y="4352544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200" b="1" i="0">
                <a:solidFill>
                  <a:srgbClr val="A0A097"/>
                </a:solidFill>
                <a:latin typeface="Menlo"/>
              </a:rPr>
              <a:t>SOM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344168" y="4261104"/>
            <a:ext cx="2056119" cy="56692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554480" y="4379976"/>
            <a:ext cx="977767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350" b="1" i="0">
                <a:solidFill>
                  <a:srgbClr val="050505"/>
                </a:solidFill>
                <a:latin typeface="Helvetica Neue"/>
              </a:rPr>
              <a:t>Our US wedge — ≈$135M / yr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28887" y="4882896"/>
            <a:ext cx="977767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050" b="0" i="0">
                <a:solidFill>
                  <a:srgbClr val="A0A097"/>
                </a:solidFill>
                <a:latin typeface="Helvetica Neue"/>
              </a:rPr>
              <a:t>50M runners × 30% app-trackers × 15% form-motivated × $60/yr.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66928" y="6419088"/>
            <a:ext cx="1105783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950" b="0" i="0">
                <a:solidFill>
                  <a:srgbClr val="A0A097"/>
                </a:solidFill>
                <a:latin typeface="Helvetica Neue"/>
              </a:rPr>
              <a:t>Every multiplier is a stated assumption this round replaces with our own funnel data. SwingVision monetizes at ≈$200/yr — 3× our blended assumption.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mark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365760"/>
            <a:ext cx="210165" cy="173736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68680" y="347472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100" b="1" i="0">
                <a:solidFill>
                  <a:srgbClr val="A0A097"/>
                </a:solidFill>
                <a:latin typeface="Helvetica Neue"/>
              </a:rPr>
              <a:t>BUSINESS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27487" y="347472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2000"/>
              </a:lnSpc>
              <a:spcAft>
                <a:spcPts val="500"/>
              </a:spcAft>
            </a:pPr>
            <a:r>
              <a:rPr sz="1100" b="0" i="0">
                <a:solidFill>
                  <a:srgbClr val="A0A097"/>
                </a:solidFill>
                <a:latin typeface="Menlo"/>
              </a:rPr>
              <a:t>08 / 13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66928" y="658368"/>
            <a:ext cx="11057839" cy="0"/>
          </a:xfrm>
          <a:prstGeom prst="line">
            <a:avLst/>
          </a:prstGeom>
          <a:ln w="12700">
            <a:solidFill>
              <a:srgbClr val="2E2E2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566928" y="658368"/>
            <a:ext cx="502920" cy="0"/>
          </a:xfrm>
          <a:prstGeom prst="line">
            <a:avLst/>
          </a:prstGeom>
          <a:ln w="22860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66928" y="859536"/>
            <a:ext cx="11057839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500"/>
              </a:spcAft>
            </a:pPr>
            <a:r>
              <a:rPr sz="2700" b="1" i="0">
                <a:solidFill>
                  <a:srgbClr val="F5F5F3"/>
                </a:solidFill>
                <a:latin typeface="Helvetica Neue"/>
              </a:rPr>
              <a:t>Category-median pricing. Category-leader economics.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1691640"/>
            <a:ext cx="3533546" cy="1965960"/>
          </a:xfrm>
          <a:prstGeom prst="roundRect">
            <a:avLst>
              <a:gd name="adj" fmla="val 3500"/>
            </a:avLst>
          </a:prstGeom>
          <a:solidFill>
            <a:srgbClr val="0E0E0E"/>
          </a:solidFill>
          <a:ln w="12700">
            <a:solidFill>
              <a:srgbClr val="2E2E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68096" y="1856232"/>
            <a:ext cx="313121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950" b="1" i="0">
                <a:solidFill>
                  <a:srgbClr val="FFFFFF"/>
                </a:solidFill>
                <a:latin typeface="Helvetica Neue"/>
              </a:rPr>
              <a:t>FREE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8096" y="2148840"/>
            <a:ext cx="313121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1400" b="1" i="0">
                <a:solidFill>
                  <a:srgbClr val="F5F5F3"/>
                </a:solidFill>
                <a:latin typeface="Helvetica Neue"/>
              </a:rPr>
              <a:t>3 analyses / month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8096" y="2532888"/>
            <a:ext cx="313121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500"/>
              </a:spcAft>
            </a:pPr>
            <a:r>
              <a:rPr sz="1100" b="0" i="0">
                <a:solidFill>
                  <a:srgbClr val="A0A097"/>
                </a:solidFill>
                <a:latin typeface="Helvetica Neue"/>
              </a:rPr>
              <a:t>Shareable scored breakdowns drive organic installs.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29074" y="1691640"/>
            <a:ext cx="3533546" cy="1965960"/>
          </a:xfrm>
          <a:prstGeom prst="roundRect">
            <a:avLst>
              <a:gd name="adj" fmla="val 3500"/>
            </a:avLst>
          </a:prstGeom>
          <a:solidFill>
            <a:srgbClr val="0E0E0E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30242" y="1856232"/>
            <a:ext cx="313121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950" b="1" i="0">
                <a:solidFill>
                  <a:srgbClr val="FFFFFF"/>
                </a:solidFill>
                <a:latin typeface="Helvetica Neue"/>
              </a:rPr>
              <a:t>ATHLETE — $9.99/MO · $79/YR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30242" y="2148840"/>
            <a:ext cx="313121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1400" b="1" i="0">
                <a:solidFill>
                  <a:srgbClr val="F5F5F3"/>
                </a:solidFill>
                <a:latin typeface="Helvetica Neue"/>
              </a:rPr>
              <a:t>Unlimited analyses + programs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30242" y="2532888"/>
            <a:ext cx="313121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500"/>
              </a:spcAft>
            </a:pPr>
            <a:r>
              <a:rPr sz="1100" b="0" i="0">
                <a:solidFill>
                  <a:srgbClr val="A0A097"/>
                </a:solidFill>
                <a:latin typeface="Helvetica Neue"/>
              </a:rPr>
              <a:t>$9.99 is the exact category median. Annual-first paywall — annual churns half as fast.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91220" y="1691640"/>
            <a:ext cx="3533546" cy="1965960"/>
          </a:xfrm>
          <a:prstGeom prst="roundRect">
            <a:avLst>
              <a:gd name="adj" fmla="val 3500"/>
            </a:avLst>
          </a:prstGeom>
          <a:solidFill>
            <a:srgbClr val="0E0E0E"/>
          </a:solidFill>
          <a:ln w="12700">
            <a:solidFill>
              <a:srgbClr val="2E2E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92388" y="1856232"/>
            <a:ext cx="313121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950" b="1" i="0">
                <a:solidFill>
                  <a:srgbClr val="FFFFFF"/>
                </a:solidFill>
                <a:latin typeface="Helvetica Neue"/>
              </a:rPr>
              <a:t>TEAM — $499/SEASON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92388" y="2148840"/>
            <a:ext cx="313121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1400" b="1" i="0">
                <a:solidFill>
                  <a:srgbClr val="F5F5F3"/>
                </a:solidFill>
                <a:latin typeface="Helvetica Neue"/>
              </a:rPr>
              <a:t>Coach dashboard, whole squad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92388" y="2532888"/>
            <a:ext cx="313121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500"/>
              </a:spcAft>
            </a:pPr>
            <a:r>
              <a:rPr sz="1100" b="0" i="0">
                <a:solidFill>
                  <a:srgbClr val="A0A097"/>
                </a:solidFill>
                <a:latin typeface="Helvetica Neue"/>
              </a:rPr>
              <a:t>One sale onboards 40+ athletes — distribution without consumer CAC.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3886200"/>
            <a:ext cx="3533546" cy="1600200"/>
          </a:xfrm>
          <a:prstGeom prst="roundRect">
            <a:avLst>
              <a:gd name="adj" fmla="val 3500"/>
            </a:avLst>
          </a:prstGeom>
          <a:solidFill>
            <a:srgbClr val="0E0E0E"/>
          </a:solidFill>
          <a:ln w="12700">
            <a:solidFill>
              <a:srgbClr val="2E2E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68096" y="4050792"/>
            <a:ext cx="313121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3400" b="1" i="0">
                <a:solidFill>
                  <a:srgbClr val="C9C9C2"/>
                </a:solidFill>
                <a:latin typeface="Menlo"/>
              </a:rPr>
              <a:t>≈2¢</a:t>
            </a:r>
            <a:r>
              <a:rPr sz="1700" b="1" i="0">
                <a:solidFill>
                  <a:srgbClr val="A0A097"/>
                </a:solidFill>
                <a:latin typeface="Menlo"/>
              </a:rPr>
              <a:t/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68096" y="4727448"/>
            <a:ext cx="313121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50" b="0" i="0">
                <a:solidFill>
                  <a:srgbClr val="A0A097"/>
                </a:solidFill>
                <a:latin typeface="Helvetica Neue"/>
              </a:rPr>
              <a:t>compute per analysis — 90%+ gross margin.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329074" y="3886200"/>
            <a:ext cx="3533546" cy="1600200"/>
          </a:xfrm>
          <a:prstGeom prst="roundRect">
            <a:avLst>
              <a:gd name="adj" fmla="val 3500"/>
            </a:avLst>
          </a:prstGeom>
          <a:solidFill>
            <a:srgbClr val="0E0E0E"/>
          </a:solidFill>
          <a:ln w="12700">
            <a:solidFill>
              <a:srgbClr val="2E2E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530242" y="4050792"/>
            <a:ext cx="313121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3400" b="1" i="0">
                <a:solidFill>
                  <a:srgbClr val="F5F5F3"/>
                </a:solidFill>
                <a:latin typeface="Menlo"/>
              </a:rPr>
              <a:t>37.7</a:t>
            </a:r>
            <a:r>
              <a:rPr sz="1700" b="1" i="0">
                <a:solidFill>
                  <a:srgbClr val="A0A097"/>
                </a:solidFill>
                <a:latin typeface="Menlo"/>
              </a:rPr>
              <a:t>%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30242" y="4727448"/>
            <a:ext cx="313121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50" b="0" i="0">
                <a:solidFill>
                  <a:srgbClr val="A0A097"/>
                </a:solidFill>
                <a:latin typeface="Helvetica Neue"/>
              </a:rPr>
              <a:t>median trial→paid in Health &amp; Fitness — 2nd best category.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091220" y="3886200"/>
            <a:ext cx="3533546" cy="1600200"/>
          </a:xfrm>
          <a:prstGeom prst="roundRect">
            <a:avLst>
              <a:gd name="adj" fmla="val 3500"/>
            </a:avLst>
          </a:prstGeom>
          <a:solidFill>
            <a:srgbClr val="0E0E0E"/>
          </a:solidFill>
          <a:ln w="12700">
            <a:solidFill>
              <a:srgbClr val="2E2E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292388" y="4050792"/>
            <a:ext cx="313121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3400" b="1" i="0">
                <a:solidFill>
                  <a:srgbClr val="F5F5F3"/>
                </a:solidFill>
                <a:latin typeface="Menlo"/>
              </a:rPr>
              <a:t>$200</a:t>
            </a:r>
            <a:r>
              <a:rPr sz="1700" b="1" i="0">
                <a:solidFill>
                  <a:srgbClr val="A0A097"/>
                </a:solidFill>
                <a:latin typeface="Menlo"/>
              </a:rPr>
              <a:t>/yr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92388" y="4727448"/>
            <a:ext cx="313121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50" b="0" i="0">
                <a:solidFill>
                  <a:srgbClr val="A0A097"/>
                </a:solidFill>
                <a:latin typeface="Helvetica Neue"/>
              </a:rPr>
              <a:t>SwingVision's realized ARPU — premium sport pricing works.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66928" y="6419088"/>
            <a:ext cx="1105783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950" b="0" i="0">
                <a:solidFill>
                  <a:srgbClr val="A0A097"/>
                </a:solidFill>
                <a:latin typeface="Helvetica Neue"/>
              </a:rPr>
              <a:t>Benchmarks: RevenueCat State of Subscription Apps 2026.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mark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365760"/>
            <a:ext cx="210165" cy="173736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68680" y="347472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100" b="1" i="0">
                <a:solidFill>
                  <a:srgbClr val="A0A097"/>
                </a:solidFill>
                <a:latin typeface="Helvetica Neue"/>
              </a:rPr>
              <a:t>GO-TO-MARKET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27487" y="347472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2000"/>
              </a:lnSpc>
              <a:spcAft>
                <a:spcPts val="500"/>
              </a:spcAft>
            </a:pPr>
            <a:r>
              <a:rPr sz="1100" b="0" i="0">
                <a:solidFill>
                  <a:srgbClr val="A0A097"/>
                </a:solidFill>
                <a:latin typeface="Menlo"/>
              </a:rPr>
              <a:t>09 / 13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66928" y="658368"/>
            <a:ext cx="11057839" cy="0"/>
          </a:xfrm>
          <a:prstGeom prst="line">
            <a:avLst/>
          </a:prstGeom>
          <a:ln w="12700">
            <a:solidFill>
              <a:srgbClr val="2E2E2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566928" y="658368"/>
            <a:ext cx="502920" cy="0"/>
          </a:xfrm>
          <a:prstGeom prst="line">
            <a:avLst/>
          </a:prstGeom>
          <a:ln w="22860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66928" y="859536"/>
            <a:ext cx="11057839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500"/>
              </a:spcAft>
            </a:pPr>
            <a:r>
              <a:rPr sz="2700" b="1" i="0">
                <a:solidFill>
                  <a:srgbClr val="F5F5F3"/>
                </a:solidFill>
                <a:latin typeface="Helvetica Neue"/>
              </a:rPr>
              <a:t>Paid ads fail in this category. Coaches don't —
one coach is forty athletes.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1920240"/>
            <a:ext cx="11057839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500"/>
              </a:spcAft>
            </a:pPr>
            <a:r>
              <a:rPr sz="1350" b="0" i="0">
                <a:solidFill>
                  <a:srgbClr val="A0A097"/>
                </a:solidFill>
                <a:latin typeface="Helvetica Neue"/>
              </a:rPr>
              <a:t>Category paid-UA is underwater: ≈$160 CAC vs $36 first-year value. Our plan is built on that fact.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2606040"/>
            <a:ext cx="3533546" cy="2651760"/>
          </a:xfrm>
          <a:prstGeom prst="roundRect">
            <a:avLst>
              <a:gd name="adj" fmla="val 3500"/>
            </a:avLst>
          </a:prstGeom>
          <a:solidFill>
            <a:srgbClr val="0E0E0E"/>
          </a:solidFill>
          <a:ln w="12700">
            <a:solidFill>
              <a:srgbClr val="2E2E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8096" y="2770632"/>
            <a:ext cx="313121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950" b="1" i="0">
                <a:solidFill>
                  <a:srgbClr val="FFFFFF"/>
                </a:solidFill>
                <a:latin typeface="Helvetica Neue"/>
              </a:rPr>
              <a:t>MONTHS 0–6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8096" y="3063240"/>
            <a:ext cx="313121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1400" b="1" i="0">
                <a:solidFill>
                  <a:srgbClr val="F5F5F3"/>
                </a:solidFill>
                <a:latin typeface="Helvetica Neue"/>
              </a:rPr>
              <a:t>Own San Diego track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8096" y="3447288"/>
            <a:ext cx="3131210" cy="1691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500"/>
              </a:spcAft>
            </a:pPr>
            <a:r>
              <a:rPr sz="1100" b="0" i="0">
                <a:solidFill>
                  <a:srgbClr val="A0A097"/>
                </a:solidFill>
                <a:latin typeface="Helvetica Neue"/>
              </a:rPr>
              <a:t>Founder-led pilots convert to $499 season licenses. Each team: 40+ athletes at ~$0 CAC.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29074" y="2606040"/>
            <a:ext cx="3533546" cy="2651760"/>
          </a:xfrm>
          <a:prstGeom prst="roundRect">
            <a:avLst>
              <a:gd name="adj" fmla="val 3500"/>
            </a:avLst>
          </a:prstGeom>
          <a:solidFill>
            <a:srgbClr val="0E0E0E"/>
          </a:solidFill>
          <a:ln w="12700">
            <a:solidFill>
              <a:srgbClr val="2E2E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30242" y="2770632"/>
            <a:ext cx="313121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950" b="1" i="0">
                <a:solidFill>
                  <a:srgbClr val="FFFFFF"/>
                </a:solidFill>
                <a:latin typeface="Helvetica Neue"/>
              </a:rPr>
              <a:t>MONTHS 6–12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30242" y="3063240"/>
            <a:ext cx="313121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1400" b="1" i="0">
                <a:solidFill>
                  <a:srgbClr val="F5F5F3"/>
                </a:solidFill>
                <a:latin typeface="Helvetica Neue"/>
              </a:rPr>
              <a:t>Replicate coach-to-coach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30242" y="3447288"/>
            <a:ext cx="3131210" cy="1691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500"/>
              </a:spcAft>
            </a:pPr>
            <a:r>
              <a:rPr sz="1100" b="0" i="0">
                <a:solidFill>
                  <a:srgbClr val="A0A097"/>
                </a:solidFill>
                <a:latin typeface="Helvetica Neue"/>
              </a:rPr>
              <a:t>CIF meets, clinics, associations — 1.1M US high-school track athletes in reach. Target: 25 licenses.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91220" y="2606040"/>
            <a:ext cx="3533546" cy="2651760"/>
          </a:xfrm>
          <a:prstGeom prst="roundRect">
            <a:avLst>
              <a:gd name="adj" fmla="val 3500"/>
            </a:avLst>
          </a:prstGeom>
          <a:solidFill>
            <a:srgbClr val="0E0E0E"/>
          </a:solidFill>
          <a:ln w="12700">
            <a:solidFill>
              <a:srgbClr val="2E2E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92388" y="2770632"/>
            <a:ext cx="313121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950" b="1" i="0">
                <a:solidFill>
                  <a:srgbClr val="FFFFFF"/>
                </a:solidFill>
                <a:latin typeface="Helvetica Neue"/>
              </a:rPr>
              <a:t>MONTHS 12–18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92388" y="3063240"/>
            <a:ext cx="313121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1400" b="1" i="0">
                <a:solidFill>
                  <a:srgbClr val="F5F5F3"/>
                </a:solidFill>
                <a:latin typeface="Helvetica Neue"/>
              </a:rPr>
              <a:t>Earn the consumer flywheel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92388" y="3447288"/>
            <a:ext cx="3131210" cy="1691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500"/>
              </a:spcAft>
            </a:pPr>
            <a:r>
              <a:rPr sz="1100" b="0" i="0">
                <a:solidFill>
                  <a:srgbClr val="A0A097"/>
                </a:solidFill>
                <a:latin typeface="Helvetica Neue"/>
              </a:rPr>
              <a:t>Scored breakdowns are native short-form content. $50–75K ring-fenced to find channels that clear $30–40 per trial.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66928" y="6419088"/>
            <a:ext cx="1105783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950" b="0" i="0">
                <a:solidFill>
                  <a:srgbClr val="A0A097"/>
                </a:solidFill>
                <a:latin typeface="Helvetica Neue"/>
              </a:rPr>
              <a:t>Precedent: Ochy grew via adidas, Mustard via Golf Digest/TNT — partnerships beat ads in this category.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mark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365760"/>
            <a:ext cx="210165" cy="173736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68680" y="347472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100" b="1" i="0">
                <a:solidFill>
                  <a:srgbClr val="A0A097"/>
                </a:solidFill>
                <a:latin typeface="Helvetica Neue"/>
              </a:rPr>
              <a:t>COMPETITION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27487" y="347472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2000"/>
              </a:lnSpc>
              <a:spcAft>
                <a:spcPts val="500"/>
              </a:spcAft>
            </a:pPr>
            <a:r>
              <a:rPr sz="1100" b="0" i="0">
                <a:solidFill>
                  <a:srgbClr val="A0A097"/>
                </a:solidFill>
                <a:latin typeface="Menlo"/>
              </a:rPr>
              <a:t>10 / 13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66928" y="658368"/>
            <a:ext cx="11057839" cy="0"/>
          </a:xfrm>
          <a:prstGeom prst="line">
            <a:avLst/>
          </a:prstGeom>
          <a:ln w="12700">
            <a:solidFill>
              <a:srgbClr val="2E2E2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566928" y="658368"/>
            <a:ext cx="502920" cy="0"/>
          </a:xfrm>
          <a:prstGeom prst="line">
            <a:avLst/>
          </a:prstGeom>
          <a:ln w="22860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66928" y="859536"/>
            <a:ext cx="11057839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500"/>
              </a:spcAft>
            </a:pPr>
            <a:r>
              <a:rPr sz="2700" b="1" i="0">
                <a:solidFill>
                  <a:srgbClr val="F5F5F3"/>
                </a:solidFill>
                <a:latin typeface="Helvetica Neue"/>
              </a:rPr>
              <a:t>The real competitor is a coach's eyeball. We give it instruments.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6095847.5" y="1828800"/>
            <a:ext cx="0.0" cy="3200400"/>
          </a:xfrm>
          <a:prstGeom prst="line">
            <a:avLst/>
          </a:prstGeom>
          <a:ln w="12700">
            <a:solidFill>
              <a:srgbClr val="2E2E2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841248" y="3429000.0"/>
            <a:ext cx="10509199" cy="0.0"/>
          </a:xfrm>
          <a:prstGeom prst="line">
            <a:avLst/>
          </a:prstGeom>
          <a:ln w="12700">
            <a:solidFill>
              <a:srgbClr val="2E2E2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6223863" y="1792224"/>
            <a:ext cx="292608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950" b="1" i="0">
                <a:solidFill>
                  <a:srgbClr val="A0A097"/>
                </a:solidFill>
                <a:latin typeface="Helvetica Neue"/>
              </a:rPr>
              <a:t>SHOWS &amp; FIXES FORM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23863" y="4809744"/>
            <a:ext cx="329184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950" b="1" i="0">
                <a:solidFill>
                  <a:srgbClr val="A0A097"/>
                </a:solidFill>
                <a:latin typeface="Helvetica Neue"/>
              </a:rPr>
              <a:t>COUNTS / RECORDS ONLY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1248" y="3154680"/>
            <a:ext cx="256032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950" b="1" i="0">
                <a:solidFill>
                  <a:srgbClr val="A0A097"/>
                </a:solidFill>
                <a:latin typeface="Helvetica Neue"/>
              </a:rPr>
              <a:t>NEEDS LAB / HARDWARE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58807" y="3154680"/>
            <a:ext cx="169164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950" b="1" i="0">
                <a:solidFill>
                  <a:srgbClr val="A0A097"/>
                </a:solidFill>
                <a:latin typeface="Helvetica Neue"/>
              </a:rPr>
              <a:t>JUST A PHONE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61288" y="2331720"/>
            <a:ext cx="420624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200" b="1" i="0">
                <a:solidFill>
                  <a:srgbClr val="F5F5F3"/>
                </a:solidFill>
                <a:latin typeface="Helvetica Neue"/>
              </a:rPr>
              <a:t>Gait labs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61288" y="2587752"/>
            <a:ext cx="4206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000" b="0" i="0">
                <a:solidFill>
                  <a:srgbClr val="A0A097"/>
                </a:solidFill>
                <a:latin typeface="Helvetica Neue"/>
              </a:rPr>
              <a:t>accurate · inaccessible · no follow-up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61288" y="3977640"/>
            <a:ext cx="420624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200" b="1" i="0">
                <a:solidFill>
                  <a:srgbClr val="F5F5F3"/>
                </a:solidFill>
                <a:latin typeface="Helvetica Neue"/>
              </a:rPr>
              <a:t>Wearables — Garmin, WHOOP, Stryd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61288" y="4233672"/>
            <a:ext cx="4206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000" b="0" i="0">
                <a:solidFill>
                  <a:srgbClr val="A0A097"/>
                </a:solidFill>
                <a:latin typeface="Helvetica Neue"/>
              </a:rPr>
              <a:t>numbers without eyes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53047" y="3977640"/>
            <a:ext cx="420624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200" b="1" i="0">
                <a:solidFill>
                  <a:srgbClr val="F5F5F3"/>
                </a:solidFill>
                <a:latin typeface="Helvetica Neue"/>
              </a:rPr>
              <a:t>Slow-mo apps — the status quo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53047" y="4233672"/>
            <a:ext cx="4206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000" b="0" i="0">
                <a:solidFill>
                  <a:srgbClr val="A0A097"/>
                </a:solidFill>
                <a:latin typeface="Helvetica Neue"/>
              </a:rPr>
              <a:t>records all, measures nothing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53047" y="2880360"/>
            <a:ext cx="420624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200" b="1" i="0">
                <a:solidFill>
                  <a:srgbClr val="F5F5F3"/>
                </a:solidFill>
                <a:latin typeface="Helvetica Neue"/>
              </a:rPr>
              <a:t>Ochy — distance-running gait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53047" y="3136392"/>
            <a:ext cx="4206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000" b="0" i="0">
                <a:solidFill>
                  <a:srgbClr val="A0A097"/>
                </a:solidFill>
                <a:latin typeface="Helvetica Neue"/>
              </a:rPr>
              <a:t>reports every angle with equal confidence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332927" y="2103120"/>
            <a:ext cx="2880360" cy="77724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497519" y="2194560"/>
            <a:ext cx="2651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350" b="1" i="0">
                <a:solidFill>
                  <a:srgbClr val="050505"/>
                </a:solidFill>
                <a:latin typeface="Helvetica Neue"/>
              </a:rPr>
              <a:t>STRIDE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497519" y="2450592"/>
            <a:ext cx="2651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900" b="0" i="0">
                <a:solidFill>
                  <a:srgbClr val="050505"/>
                </a:solidFill>
                <a:latin typeface="Helvetica Neue"/>
              </a:rPr>
              <a:t>sprint + run · trust-gated · fault → program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66928" y="5212080"/>
            <a:ext cx="11057839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500"/>
              </a:spcAft>
            </a:pPr>
            <a:r>
              <a:rPr sz="1200" b="1" i="0">
                <a:solidFill>
                  <a:srgbClr val="F5F5F3"/>
                </a:solidFill>
                <a:latin typeface="Helvetica Neue"/>
              </a:rPr>
              <a:t>Durable edge: </a:t>
            </a:r>
            <a:r>
              <a:rPr sz="1200" b="0" i="0">
                <a:solidFill>
                  <a:srgbClr val="F5F5F3"/>
                </a:solidFill>
                <a:latin typeface="Helvetica Neue"/>
              </a:rPr>
              <a:t>per-metric trust certification (patent prepared) — survives feature copying. And a wedge no funded player holds: sprint + team distribution.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mark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365760"/>
            <a:ext cx="210165" cy="173736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68680" y="347472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100" b="1" i="0">
                <a:solidFill>
                  <a:srgbClr val="A0A097"/>
                </a:solidFill>
                <a:latin typeface="Helvetica Neue"/>
              </a:rPr>
              <a:t>OPERATING PLAN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27487" y="347472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2000"/>
              </a:lnSpc>
              <a:spcAft>
                <a:spcPts val="500"/>
              </a:spcAft>
            </a:pPr>
            <a:r>
              <a:rPr sz="1100" b="0" i="0">
                <a:solidFill>
                  <a:srgbClr val="A0A097"/>
                </a:solidFill>
                <a:latin typeface="Menlo"/>
              </a:rPr>
              <a:t>11 / 13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66928" y="658368"/>
            <a:ext cx="11057839" cy="0"/>
          </a:xfrm>
          <a:prstGeom prst="line">
            <a:avLst/>
          </a:prstGeom>
          <a:ln w="12700">
            <a:solidFill>
              <a:srgbClr val="2E2E2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566928" y="658368"/>
            <a:ext cx="502920" cy="0"/>
          </a:xfrm>
          <a:prstGeom prst="line">
            <a:avLst/>
          </a:prstGeom>
          <a:ln w="22860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66928" y="859536"/>
            <a:ext cx="11057839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500"/>
              </a:spcAft>
            </a:pPr>
            <a:r>
              <a:rPr sz="2700" b="1" i="0">
                <a:solidFill>
                  <a:srgbClr val="F5F5F3"/>
                </a:solidFill>
                <a:latin typeface="Helvetica Neue"/>
              </a:rPr>
              <a:t>18 months at $28K/month — every dollar gated to a milestone.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66928" y="1783080"/>
          <a:ext cx="1106424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34440"/>
                <a:gridCol w="3657600"/>
                <a:gridCol w="3474720"/>
                <a:gridCol w="2697480"/>
              </a:tblGrid>
              <a:tr h="571500">
                <a:tc>
                  <a:txBody>
                    <a:bodyPr wrap="square"/>
                    <a:lstStyle/>
                    <a:p>
                      <a:r>
                        <a:rPr sz="1000" b="1" i="0">
                          <a:solidFill>
                            <a:srgbClr val="A0A097"/>
                          </a:solidFill>
                          <a:latin typeface="Helvetica Neue"/>
                        </a:rPr>
                        <a:t>PHASE</a:t>
                      </a:r>
                    </a:p>
                  </a:txBody>
                  <a:tcPr marL="128016" marR="128016" marT="82296" marB="82296">
                    <a:solidFill>
                      <a:srgbClr val="1A1A1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 i="0">
                          <a:solidFill>
                            <a:srgbClr val="A0A097"/>
                          </a:solidFill>
                          <a:latin typeface="Helvetica Neue"/>
                        </a:rPr>
                        <a:t>BUILD</a:t>
                      </a:r>
                    </a:p>
                  </a:txBody>
                  <a:tcPr marL="128016" marR="128016" marT="82296" marB="82296">
                    <a:solidFill>
                      <a:srgbClr val="1A1A1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 i="0">
                          <a:solidFill>
                            <a:srgbClr val="A0A097"/>
                          </a:solidFill>
                          <a:latin typeface="Helvetica Neue"/>
                        </a:rPr>
                        <a:t>SELL</a:t>
                      </a:r>
                    </a:p>
                  </a:txBody>
                  <a:tcPr marL="128016" marR="128016" marT="82296" marB="82296">
                    <a:solidFill>
                      <a:srgbClr val="1A1A1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 i="0">
                          <a:solidFill>
                            <a:srgbClr val="A0A097"/>
                          </a:solidFill>
                          <a:latin typeface="Helvetica Neue"/>
                        </a:rPr>
                        <a:t>GATE TO NEXT PHASE</a:t>
                      </a:r>
                    </a:p>
                  </a:txBody>
                  <a:tcPr marL="128016" marR="128016" marT="82296" marB="82296">
                    <a:solidFill>
                      <a:srgbClr val="1A1A17"/>
                    </a:solidFill>
                  </a:tcPr>
                </a:tc>
              </a:tr>
              <a:tr h="571500">
                <a:tc>
                  <a:txBody>
                    <a:bodyPr wrap="square"/>
                    <a:lstStyle/>
                    <a:p>
                      <a:r>
                        <a:rPr sz="1150" b="1" i="0">
                          <a:solidFill>
                            <a:srgbClr val="F5F5F3"/>
                          </a:solidFill>
                          <a:latin typeface="Menlo"/>
                        </a:rPr>
                        <a:t>M 0–3</a:t>
                      </a:r>
                    </a:p>
                  </a:txBody>
                  <a:tcPr marL="128016" marR="128016" marT="82296" marB="82296">
                    <a:solidFill>
                      <a:srgbClr val="0E0E0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F5F5F3"/>
                          </a:solidFill>
                          <a:latin typeface="Helvetica Neue"/>
                        </a:rPr>
                        <a:t>App Store launch · 120fps capture</a:t>
                      </a:r>
                    </a:p>
                  </a:txBody>
                  <a:tcPr marL="128016" marR="128016" marT="82296" marB="82296">
                    <a:solidFill>
                      <a:srgbClr val="0E0E0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F5F5F3"/>
                          </a:solidFill>
                          <a:latin typeface="Helvetica Neue"/>
                        </a:rPr>
                        <a:t>3 paid team pilots (SD)</a:t>
                      </a:r>
                    </a:p>
                  </a:txBody>
                  <a:tcPr marL="128016" marR="128016" marT="82296" marB="82296">
                    <a:solidFill>
                      <a:srgbClr val="0E0E0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F5F5F3"/>
                          </a:solidFill>
                          <a:latin typeface="Menlo"/>
                        </a:rPr>
                        <a:t>500 athletes</a:t>
                      </a:r>
                    </a:p>
                  </a:txBody>
                  <a:tcPr marL="128016" marR="128016" marT="82296" marB="82296">
                    <a:solidFill>
                      <a:srgbClr val="0E0E0E"/>
                    </a:solidFill>
                  </a:tcPr>
                </a:tc>
              </a:tr>
              <a:tr h="571500">
                <a:tc>
                  <a:txBody>
                    <a:bodyPr wrap="square"/>
                    <a:lstStyle/>
                    <a:p>
                      <a:r>
                        <a:rPr sz="1150" b="1" i="0">
                          <a:solidFill>
                            <a:srgbClr val="F5F5F3"/>
                          </a:solidFill>
                          <a:latin typeface="Menlo"/>
                        </a:rPr>
                        <a:t>M 4–9</a:t>
                      </a:r>
                    </a:p>
                  </a:txBody>
                  <a:tcPr marL="128016" marR="128016" marT="82296" marB="82296">
                    <a:solidFill>
                      <a:srgbClr val="0E0E0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F5F5F3"/>
                          </a:solidFill>
                          <a:latin typeface="Helvetica Neue"/>
                        </a:rPr>
                        <a:t>Injury metrics · coach dashboard</a:t>
                      </a:r>
                    </a:p>
                  </a:txBody>
                  <a:tcPr marL="128016" marR="128016" marT="82296" marB="82296">
                    <a:solidFill>
                      <a:srgbClr val="0E0E0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F5F5F3"/>
                          </a:solidFill>
                          <a:latin typeface="Helvetica Neue"/>
                        </a:rPr>
                        <a:t>25 team licenses (CA network)</a:t>
                      </a:r>
                    </a:p>
                  </a:txBody>
                  <a:tcPr marL="128016" marR="128016" marT="82296" marB="82296">
                    <a:solidFill>
                      <a:srgbClr val="0E0E0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F5F5F3"/>
                          </a:solidFill>
                          <a:latin typeface="Menlo"/>
                        </a:rPr>
                        <a:t>3,000 athletes · renewal data</a:t>
                      </a:r>
                    </a:p>
                  </a:txBody>
                  <a:tcPr marL="128016" marR="128016" marT="82296" marB="82296">
                    <a:solidFill>
                      <a:srgbClr val="0E0E0E"/>
                    </a:solidFill>
                  </a:tcPr>
                </a:tc>
              </a:tr>
              <a:tr h="571500">
                <a:tc>
                  <a:txBody>
                    <a:bodyPr wrap="square"/>
                    <a:lstStyle/>
                    <a:p>
                      <a:r>
                        <a:rPr sz="1150" b="1" i="0">
                          <a:solidFill>
                            <a:srgbClr val="F5F5F3"/>
                          </a:solidFill>
                          <a:latin typeface="Menlo"/>
                        </a:rPr>
                        <a:t>M 10–18</a:t>
                      </a:r>
                    </a:p>
                  </a:txBody>
                  <a:tcPr marL="128016" marR="128016" marT="82296" marB="82296">
                    <a:solidFill>
                      <a:srgbClr val="0E0E0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F5F5F3"/>
                          </a:solidFill>
                          <a:latin typeface="Helvetica Neue"/>
                        </a:rPr>
                        <a:t>Personal baselines · risk trends</a:t>
                      </a:r>
                    </a:p>
                  </a:txBody>
                  <a:tcPr marL="128016" marR="128016" marT="82296" marB="82296">
                    <a:solidFill>
                      <a:srgbClr val="0E0E0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F5F5F3"/>
                          </a:solidFill>
                          <a:latin typeface="Helvetica Neue"/>
                        </a:rPr>
                        <a:t>Flywheel + proven channels only</a:t>
                      </a:r>
                    </a:p>
                  </a:txBody>
                  <a:tcPr marL="128016" marR="128016" marT="82296" marB="82296">
                    <a:solidFill>
                      <a:srgbClr val="0E0E0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F5F5F3"/>
                          </a:solidFill>
                          <a:latin typeface="Menlo"/>
                        </a:rPr>
                        <a:t>10,000 athletes · $10–15K MRR</a:t>
                      </a:r>
                    </a:p>
                  </a:txBody>
                  <a:tcPr marL="128016" marR="128016" marT="82296" marB="82296">
                    <a:solidFill>
                      <a:srgbClr val="0E0E0E"/>
                    </a:solidFill>
                  </a:tcPr>
                </a:tc>
              </a:tr>
            </a:tbl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566928" y="4251960"/>
            <a:ext cx="5414619" cy="1554480"/>
          </a:xfrm>
          <a:prstGeom prst="roundRect">
            <a:avLst>
              <a:gd name="adj" fmla="val 3500"/>
            </a:avLst>
          </a:prstGeom>
          <a:solidFill>
            <a:srgbClr val="0E0E0E"/>
          </a:solidFill>
          <a:ln w="12700">
            <a:solidFill>
              <a:srgbClr val="2E2E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8096" y="4416552"/>
            <a:ext cx="5012283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950" b="1" i="0">
                <a:solidFill>
                  <a:srgbClr val="FFFFFF"/>
                </a:solidFill>
                <a:latin typeface="Helvetica Neue"/>
              </a:rPr>
              <a:t>SEED GATES VS PUBLISHED REALITY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8096" y="4709160"/>
            <a:ext cx="5012283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1400" b="1" i="0">
                <a:solidFill>
                  <a:srgbClr val="F5F5F3"/>
                </a:solidFill>
                <a:latin typeface="Helvetica Neue"/>
              </a:rPr>
              <a:t>Honest targets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8096" y="5093208"/>
            <a:ext cx="5012283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500"/>
              </a:spcAft>
            </a:pPr>
            <a:r>
              <a:rPr sz="1100" b="0" i="0">
                <a:solidFill>
                  <a:srgbClr val="A0A097"/>
                </a:solidFill>
                <a:latin typeface="Helvetica Neue"/>
              </a:rPr>
              <a:t>D30 10–15% (H&amp;F top decile; median is 5%) · first renewal ≥ 57% · $10–15K MRR with cohort curves.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0147" y="4251960"/>
            <a:ext cx="5414619" cy="1554480"/>
          </a:xfrm>
          <a:prstGeom prst="roundRect">
            <a:avLst>
              <a:gd name="adj" fmla="val 3500"/>
            </a:avLst>
          </a:prstGeom>
          <a:solidFill>
            <a:srgbClr val="0E0E0E"/>
          </a:solidFill>
          <a:ln w="12700">
            <a:solidFill>
              <a:srgbClr val="2E2E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11315" y="4416552"/>
            <a:ext cx="5012283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950" b="1" i="0">
                <a:solidFill>
                  <a:srgbClr val="FFFFFF"/>
                </a:solidFill>
                <a:latin typeface="Helvetica Neue"/>
              </a:rPr>
              <a:t>BURN DISCIPLINE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11315" y="4709160"/>
            <a:ext cx="5012283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1400" b="1" i="0">
                <a:solidFill>
                  <a:srgbClr val="F5F5F3"/>
                </a:solidFill>
                <a:latin typeface="Helvetica Neue"/>
              </a:rPr>
              <a:t>$28K/month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11315" y="5093208"/>
            <a:ext cx="5012283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500"/>
              </a:spcAft>
            </a:pPr>
            <a:r>
              <a:rPr sz="1100" b="0" i="0">
                <a:solidFill>
                  <a:srgbClr val="A0A097"/>
                </a:solidFill>
                <a:latin typeface="Helvetica Neue"/>
              </a:rPr>
              <a:t>2 founders at sub-market pay + 1 contractor · $50–75K CAC discovery · 15% contingency.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mark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365760"/>
            <a:ext cx="210165" cy="173736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68680" y="347472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100" b="1" i="0">
                <a:solidFill>
                  <a:srgbClr val="A0A097"/>
                </a:solidFill>
                <a:latin typeface="Helvetica Neue"/>
              </a:rPr>
              <a:t>THE ASK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27487" y="347472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2000"/>
              </a:lnSpc>
              <a:spcAft>
                <a:spcPts val="500"/>
              </a:spcAft>
            </a:pPr>
            <a:r>
              <a:rPr sz="1100" b="0" i="0">
                <a:solidFill>
                  <a:srgbClr val="A0A097"/>
                </a:solidFill>
                <a:latin typeface="Menlo"/>
              </a:rPr>
              <a:t>12 / 13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66928" y="658368"/>
            <a:ext cx="11057839" cy="0"/>
          </a:xfrm>
          <a:prstGeom prst="line">
            <a:avLst/>
          </a:prstGeom>
          <a:ln w="12700">
            <a:solidFill>
              <a:srgbClr val="2E2E2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566928" y="658368"/>
            <a:ext cx="502920" cy="0"/>
          </a:xfrm>
          <a:prstGeom prst="line">
            <a:avLst/>
          </a:prstGeom>
          <a:ln w="22860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66928" y="859536"/>
            <a:ext cx="11057839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500"/>
              </a:spcAft>
            </a:pPr>
            <a:r>
              <a:rPr sz="2700" b="1" i="0">
                <a:solidFill>
                  <a:srgbClr val="F5F5F3"/>
                </a:solidFill>
                <a:latin typeface="Helvetica Neue"/>
              </a:rPr>
              <a:t>Raising $500K on a SAFE → 10,000 athletes and seed-ready data.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1828800"/>
            <a:ext cx="5414619" cy="3337560"/>
          </a:xfrm>
          <a:prstGeom prst="roundRect">
            <a:avLst>
              <a:gd name="adj" fmla="val 3500"/>
            </a:avLst>
          </a:prstGeom>
          <a:solidFill>
            <a:srgbClr val="0E0E0E"/>
          </a:solidFill>
          <a:ln w="12700">
            <a:solidFill>
              <a:srgbClr val="2E2E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86384" y="2011680"/>
            <a:ext cx="4975707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000" b="1" i="0">
                <a:solidFill>
                  <a:srgbClr val="FFFFFF"/>
                </a:solidFill>
                <a:latin typeface="Helvetica Neue"/>
              </a:rPr>
              <a:t>USE OF FUNDS · 18 MONTHS RUNWAY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86384" y="2423160"/>
            <a:ext cx="422589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200" b="0" i="0">
                <a:solidFill>
                  <a:srgbClr val="F5F5F3"/>
                </a:solidFill>
                <a:latin typeface="Helvetica Neue"/>
              </a:rPr>
              <a:t>Product &amp; ML — founders + 1 engineer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112867" y="2423160"/>
            <a:ext cx="6400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2000"/>
              </a:lnSpc>
              <a:spcAft>
                <a:spcPts val="500"/>
              </a:spcAft>
            </a:pPr>
            <a:r>
              <a:rPr sz="1250" b="1" i="0">
                <a:solidFill>
                  <a:srgbClr val="F5F5F3"/>
                </a:solidFill>
                <a:latin typeface="Menlo"/>
              </a:rPr>
              <a:t>40%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786384.0" y="2825496"/>
            <a:ext cx="4975707.5" cy="0"/>
          </a:xfrm>
          <a:prstGeom prst="line">
            <a:avLst/>
          </a:prstGeom>
          <a:ln w="12700">
            <a:solidFill>
              <a:srgbClr val="2E2E2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786384" y="2990088"/>
            <a:ext cx="422589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200" b="0" i="0">
                <a:solidFill>
                  <a:srgbClr val="F5F5F3"/>
                </a:solidFill>
                <a:latin typeface="Helvetica Neue"/>
              </a:rPr>
              <a:t>GTM — pilots, coach network, CAC discovery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112867" y="2990088"/>
            <a:ext cx="6400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2000"/>
              </a:lnSpc>
              <a:spcAft>
                <a:spcPts val="500"/>
              </a:spcAft>
            </a:pPr>
            <a:r>
              <a:rPr sz="1250" b="1" i="0">
                <a:solidFill>
                  <a:srgbClr val="F5F5F3"/>
                </a:solidFill>
                <a:latin typeface="Menlo"/>
              </a:rPr>
              <a:t>30%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786384.0" y="3392424"/>
            <a:ext cx="4975707.5" cy="0"/>
          </a:xfrm>
          <a:prstGeom prst="line">
            <a:avLst/>
          </a:prstGeom>
          <a:ln w="12700">
            <a:solidFill>
              <a:srgbClr val="2E2E2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786384" y="3557016"/>
            <a:ext cx="422589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200" b="0" i="0">
                <a:solidFill>
                  <a:srgbClr val="F5F5F3"/>
                </a:solidFill>
                <a:latin typeface="Helvetica Neue"/>
              </a:rPr>
              <a:t>Operations &amp; launch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112867" y="3557016"/>
            <a:ext cx="6400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2000"/>
              </a:lnSpc>
              <a:spcAft>
                <a:spcPts val="500"/>
              </a:spcAft>
            </a:pPr>
            <a:r>
              <a:rPr sz="1250" b="1" i="0">
                <a:solidFill>
                  <a:srgbClr val="F5F5F3"/>
                </a:solidFill>
                <a:latin typeface="Menlo"/>
              </a:rPr>
              <a:t>20%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786384.0" y="3959352"/>
            <a:ext cx="4975707.5" cy="0"/>
          </a:xfrm>
          <a:prstGeom prst="line">
            <a:avLst/>
          </a:prstGeom>
          <a:ln w="12700">
            <a:solidFill>
              <a:srgbClr val="2E2E2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786384" y="4123944"/>
            <a:ext cx="422589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200" b="0" i="0">
                <a:solidFill>
                  <a:srgbClr val="F5F5F3"/>
                </a:solidFill>
                <a:latin typeface="Helvetica Neue"/>
              </a:rPr>
              <a:t>Infra, legal &amp; utility-patent conversion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112867" y="4123944"/>
            <a:ext cx="6400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2000"/>
              </a:lnSpc>
              <a:spcAft>
                <a:spcPts val="500"/>
              </a:spcAft>
            </a:pPr>
            <a:r>
              <a:rPr sz="1250" b="1" i="0">
                <a:solidFill>
                  <a:srgbClr val="F5F5F3"/>
                </a:solidFill>
                <a:latin typeface="Menlo"/>
              </a:rPr>
              <a:t>10%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786384.0" y="4526280"/>
            <a:ext cx="4975707.5" cy="0"/>
          </a:xfrm>
          <a:prstGeom prst="line">
            <a:avLst/>
          </a:prstGeom>
          <a:ln w="12700">
            <a:solidFill>
              <a:srgbClr val="2E2E2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6210147" y="1828800"/>
            <a:ext cx="5414619" cy="3337560"/>
          </a:xfrm>
          <a:prstGeom prst="roundRect">
            <a:avLst>
              <a:gd name="adj" fmla="val 3500"/>
            </a:avLst>
          </a:prstGeom>
          <a:solidFill>
            <a:srgbClr val="0E0E0E"/>
          </a:solidFill>
          <a:ln w="12700">
            <a:solidFill>
              <a:srgbClr val="2E2E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29603" y="2011680"/>
            <a:ext cx="4975707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000" b="1" i="0">
                <a:solidFill>
                  <a:srgbClr val="FFFFFF"/>
                </a:solidFill>
                <a:latin typeface="Helvetica Neue"/>
              </a:rPr>
              <a:t>WHAT THE ROUND PROVES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29603" y="2395728"/>
            <a:ext cx="4975707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1100"/>
              </a:spcAft>
            </a:pPr>
            <a:r>
              <a:rPr sz="1200" b="1" i="0">
                <a:solidFill>
                  <a:srgbClr val="FFFFFF"/>
                </a:solidFill>
                <a:latin typeface="Helvetica Neue"/>
              </a:rPr>
              <a:t>•  </a:t>
            </a:r>
            <a:r>
              <a:rPr sz="1250" b="0" i="0">
                <a:solidFill>
                  <a:srgbClr val="F5F5F3"/>
                </a:solidFill>
                <a:latin typeface="Helvetica Neue"/>
              </a:rPr>
              <a:t>Repeatable coach-led motion — 25 team licenses.</a:t>
            </a:r>
          </a:p>
          <a:p>
            <a:pPr algn="l">
              <a:lnSpc>
                <a:spcPct val="118000"/>
              </a:lnSpc>
              <a:spcAft>
                <a:spcPts val="1100"/>
              </a:spcAft>
            </a:pPr>
            <a:r>
              <a:rPr sz="1200" b="1" i="0">
                <a:solidFill>
                  <a:srgbClr val="FFFFFF"/>
                </a:solidFill>
                <a:latin typeface="Helvetica Neue"/>
              </a:rPr>
              <a:t>•  </a:t>
            </a:r>
            <a:r>
              <a:rPr sz="1250" b="0" i="0">
                <a:solidFill>
                  <a:srgbClr val="F5F5F3"/>
                </a:solidFill>
                <a:latin typeface="Helvetica Neue"/>
              </a:rPr>
              <a:t>10,000 athletes · top-decile cohort retention.</a:t>
            </a:r>
          </a:p>
          <a:p>
            <a:pPr algn="l">
              <a:lnSpc>
                <a:spcPct val="118000"/>
              </a:lnSpc>
              <a:spcAft>
                <a:spcPts val="1100"/>
              </a:spcAft>
            </a:pPr>
            <a:r>
              <a:rPr sz="1200" b="1" i="0">
                <a:solidFill>
                  <a:srgbClr val="FFFFFF"/>
                </a:solidFill>
                <a:latin typeface="Helvetica Neue"/>
              </a:rPr>
              <a:t>•  </a:t>
            </a:r>
            <a:r>
              <a:rPr sz="1250" b="0" i="0">
                <a:solidFill>
                  <a:srgbClr val="F5F5F3"/>
                </a:solidFill>
                <a:latin typeface="Helvetica Neue"/>
              </a:rPr>
              <a:t>$10–15K MRR — a seed raised on curves.</a:t>
            </a:r>
          </a:p>
          <a:p>
            <a:pPr algn="l">
              <a:lnSpc>
                <a:spcPct val="118000"/>
              </a:lnSpc>
              <a:spcAft>
                <a:spcPts val="1100"/>
              </a:spcAft>
            </a:pPr>
            <a:r>
              <a:rPr sz="1200" b="1" i="0">
                <a:solidFill>
                  <a:srgbClr val="FFFFFF"/>
                </a:solidFill>
                <a:latin typeface="Helvetica Neue"/>
              </a:rPr>
              <a:t>•  </a:t>
            </a:r>
            <a:r>
              <a:rPr sz="1250" b="0" i="0">
                <a:solidFill>
                  <a:srgbClr val="F5F5F3"/>
                </a:solidFill>
                <a:latin typeface="Helvetica Neue"/>
              </a:rPr>
              <a:t>Utility patent filed on the trust engine.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29603" y="4434840"/>
            <a:ext cx="4975707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050" b="1" i="1">
                <a:solidFill>
                  <a:srgbClr val="A0A097"/>
                </a:solidFill>
                <a:latin typeface="Helvetica Neue"/>
              </a:rPr>
              <a:t>‹ if committed capital exists (bank / term sheet): "$XXX committed" — else omit ›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lockup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41367" y="1691640"/>
            <a:ext cx="3108960" cy="752812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66928" y="2834640"/>
            <a:ext cx="11057839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2000"/>
              </a:lnSpc>
              <a:spcAft>
                <a:spcPts val="500"/>
              </a:spcAft>
            </a:pPr>
            <a:r>
              <a:rPr sz="2300" b="1" i="0">
                <a:solidFill>
                  <a:srgbClr val="F5F5F3"/>
                </a:solidFill>
                <a:latin typeface="Helvetica Neue"/>
              </a:rPr>
              <a:t>Every athlete deserves to see their own form.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926080" y="3456432"/>
            <a:ext cx="633953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30000"/>
              </a:lnSpc>
              <a:spcAft>
                <a:spcPts val="500"/>
              </a:spcAft>
            </a:pPr>
            <a:r>
              <a:rPr sz="1200" b="0" i="0">
                <a:solidFill>
                  <a:srgbClr val="A0A097"/>
                </a:solidFill>
                <a:latin typeface="Helvetica Neue"/>
              </a:rPr>
              <a:t>Starting with the sprinters who need it most — building the measurement layer for human movement.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663440"/>
            <a:ext cx="1105783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2000"/>
              </a:lnSpc>
              <a:spcAft>
                <a:spcPts val="500"/>
              </a:spcAft>
            </a:pPr>
            <a:r>
              <a:rPr sz="1050" b="1" i="0">
                <a:solidFill>
                  <a:srgbClr val="FFFFFF"/>
                </a:solidFill>
                <a:latin typeface="Helvetica Neue"/>
              </a:rPr>
              <a:t>ADHIBAN ARULSELVAN · CEO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4956048"/>
            <a:ext cx="1105783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2000"/>
              </a:lnSpc>
              <a:spcAft>
                <a:spcPts val="500"/>
              </a:spcAft>
            </a:pPr>
            <a:r>
              <a:rPr sz="1100" b="1" i="1">
                <a:solidFill>
                  <a:srgbClr val="A0A097"/>
                </a:solidFill>
                <a:latin typeface="Helvetica Neue"/>
              </a:rPr>
              <a:t>‹ adhiban@[stride-domain].com ›</a:t>
            </a:r>
            <a:r>
              <a:rPr sz="1100" b="0" i="0">
                <a:solidFill>
                  <a:srgbClr val="A0A097"/>
                </a:solidFill>
                <a:latin typeface="Helvetica Neue"/>
              </a:rPr>
              <a:t>   ·   </a:t>
            </a:r>
            <a:r>
              <a:rPr sz="1100" b="1" i="1">
                <a:solidFill>
                  <a:srgbClr val="A0A097"/>
                </a:solidFill>
                <a:latin typeface="Helvetica Neue"/>
              </a:rPr>
              <a:t>‹ phone ›</a:t>
            </a:r>
            <a:r>
              <a:rPr sz="1100" b="0" i="0">
                <a:solidFill>
                  <a:srgbClr val="A0A097"/>
                </a:solidFill>
                <a:latin typeface="Helvetica Neue"/>
              </a:rPr>
              <a:t>   ·   </a:t>
            </a:r>
            <a:r>
              <a:rPr sz="1100" b="1" i="1">
                <a:solidFill>
                  <a:srgbClr val="A0A097"/>
                </a:solidFill>
                <a:latin typeface="Helvetica Neue"/>
              </a:rPr>
              <a:t>‹ Calendly link ›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