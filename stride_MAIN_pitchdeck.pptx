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Google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638B71-787F-4E51-844D-C6DBB57EFCB8}">
  <a:tblStyle styleId="{5B638B71-787F-4E51-844D-C6DBB57EFC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-bold.fntdata"/><Relationship Id="rId11" Type="http://schemas.openxmlformats.org/officeDocument/2006/relationships/slide" Target="slides/slide4.xml"/><Relationship Id="rId22" Type="http://schemas.openxmlformats.org/officeDocument/2006/relationships/font" Target="fonts/GoogleSans-boldItalic.fntdata"/><Relationship Id="rId10" Type="http://schemas.openxmlformats.org/officeDocument/2006/relationships/slide" Target="slides/slide3.xml"/><Relationship Id="rId21" Type="http://schemas.openxmlformats.org/officeDocument/2006/relationships/font" Target="fonts/GoogleSans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GoogleSans-regular.fntdata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3c6dc6df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f3c6dc6df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6098fad20_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6098fad20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6098fad20_5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6098fad20_5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6098fad20_5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6098fad20_5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6098fad20_4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6098fad20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6098fad20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6098fad20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6098fad20_5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6098fad20_5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6098fad20_4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6098fad20_4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6098fad20_4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6098fad20_4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098fad20_4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6098fad20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6098fad20_4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6098fad20_4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JxBKSKx62PU2cnToI8A25zYwoLZDsoIR/view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5" title="gold_stride_logo.png"/>
          <p:cNvPicPr preferRelativeResize="0"/>
          <p:nvPr/>
        </p:nvPicPr>
        <p:blipFill rotWithShape="1">
          <a:blip r:embed="rId3">
            <a:alphaModFix/>
          </a:blip>
          <a:srcRect b="37991" l="16740" r="13129" t="31630"/>
          <a:stretch/>
        </p:blipFill>
        <p:spPr>
          <a:xfrm>
            <a:off x="2116724" y="1505348"/>
            <a:ext cx="4677274" cy="135077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5"/>
          <p:cNvSpPr/>
          <p:nvPr/>
        </p:nvSpPr>
        <p:spPr>
          <a:xfrm>
            <a:off x="1223700" y="3035225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3D biometric running form analysis app</a:t>
            </a:r>
            <a:endParaRPr i="0" sz="25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227900" y="285325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i="0" sz="25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227900" y="775750"/>
            <a:ext cx="60027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eorgia"/>
              <a:buChar char="●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Elite sprint coaching costs $200–500/session. It is inaccessible to majority of young runners.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eorgia"/>
              <a:buChar char="●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Middle/high school running teams are large: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majority of runners get no coach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attention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. Thus, form errors and running issues persist.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eorgia"/>
              <a:buChar char="●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Current running form analyzers require a video to be taken in highly specific conditions (often side-on, perfect lighting, runner in a certain position). Many times, racing form analysis do not meet these conditions.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64" name="Google Shape;6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4225" y="105823"/>
            <a:ext cx="288125" cy="23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unner with injured calf (Provided by Getty Images)" id="65" name="Google Shape;65;p16"/>
          <p:cNvPicPr preferRelativeResize="0"/>
          <p:nvPr/>
        </p:nvPicPr>
        <p:blipFill rotWithShape="1">
          <a:blip r:embed="rId4">
            <a:alphaModFix/>
          </a:blip>
          <a:srcRect b="0" l="14501" r="30002" t="0"/>
          <a:stretch/>
        </p:blipFill>
        <p:spPr>
          <a:xfrm>
            <a:off x="6507750" y="1329249"/>
            <a:ext cx="2325000" cy="2749200"/>
          </a:xfrm>
          <a:prstGeom prst="roundRect">
            <a:avLst>
              <a:gd fmla="val 1201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/>
          <p:nvPr/>
        </p:nvSpPr>
        <p:spPr>
          <a:xfrm>
            <a:off x="227900" y="285325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i="0" sz="25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7"/>
          <p:cNvSpPr/>
          <p:nvPr/>
        </p:nvSpPr>
        <p:spPr>
          <a:xfrm>
            <a:off x="227900" y="931025"/>
            <a:ext cx="5710500" cy="38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ogle Sans"/>
              <a:buChar char="●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Film a sprint at any angle and upload it onto the app.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ogle Sans"/>
              <a:buChar char="●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Get a full biomechanical breakdown for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10+ metrics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 in ~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15 seconds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joint angles, stride timing, form flaws, etc</a:t>
            </a:r>
            <a:r>
              <a:rPr b="1" lang="en" sz="1500">
                <a:solidFill>
                  <a:srgbClr val="BF9000"/>
                </a:solidFill>
                <a:latin typeface="Google Sans"/>
                <a:ea typeface="Google Sans"/>
                <a:cs typeface="Google Sans"/>
                <a:sym typeface="Google Sans"/>
              </a:rPr>
              <a:t>. </a:t>
            </a:r>
            <a:endParaRPr b="1" sz="1500">
              <a:solidFill>
                <a:srgbClr val="BF9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ogle Sans"/>
              <a:buChar char="●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Costs are minimal compared to private training - affordable for amateur runners.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ogle Sans"/>
              <a:buChar char="●"/>
            </a:pP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AI Coach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 provides more general advice: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hydration, recruitment, in-depth analysis, etc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.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ogle Sans"/>
              <a:buChar char="○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Real-time, instant coaching advice.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descr="Rear view of boy running on track (Provided by Getty Images)" id="72" name="Google Shape;72;p17"/>
          <p:cNvPicPr preferRelativeResize="0"/>
          <p:nvPr/>
        </p:nvPicPr>
        <p:blipFill rotWithShape="1">
          <a:blip r:embed="rId3">
            <a:alphaModFix/>
          </a:blip>
          <a:srcRect b="11946" l="0" r="0" t="1173"/>
          <a:stretch/>
        </p:blipFill>
        <p:spPr>
          <a:xfrm>
            <a:off x="6235646" y="1104575"/>
            <a:ext cx="2678100" cy="349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73" name="Google Shape;7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44225" y="105823"/>
            <a:ext cx="288125" cy="2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/>
          <p:nvPr/>
        </p:nvSpPr>
        <p:spPr>
          <a:xfrm>
            <a:off x="-2736831" y="-1509900"/>
            <a:ext cx="7358100" cy="7358100"/>
          </a:xfrm>
          <a:prstGeom prst="ellipse">
            <a:avLst/>
          </a:prstGeom>
          <a:solidFill>
            <a:srgbClr val="2A2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8"/>
          <p:cNvSpPr/>
          <p:nvPr/>
        </p:nvSpPr>
        <p:spPr>
          <a:xfrm>
            <a:off x="-449925" y="1597200"/>
            <a:ext cx="3546300" cy="3546300"/>
          </a:xfrm>
          <a:prstGeom prst="ellipse">
            <a:avLst/>
          </a:prstGeom>
          <a:solidFill>
            <a:srgbClr val="6B5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8"/>
          <p:cNvSpPr/>
          <p:nvPr/>
        </p:nvSpPr>
        <p:spPr>
          <a:xfrm>
            <a:off x="636675" y="3770400"/>
            <a:ext cx="1373100" cy="1373100"/>
          </a:xfrm>
          <a:prstGeom prst="ellipse">
            <a:avLst/>
          </a:prstGeom>
          <a:solidFill>
            <a:srgbClr val="E8C8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8"/>
          <p:cNvSpPr txBox="1"/>
          <p:nvPr/>
        </p:nvSpPr>
        <p:spPr>
          <a:xfrm>
            <a:off x="77625" y="304800"/>
            <a:ext cx="2491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$11.9B</a:t>
            </a:r>
            <a:endParaRPr b="1" sz="6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2" name="Google Shape;82;p18"/>
          <p:cNvSpPr txBox="1"/>
          <p:nvPr/>
        </p:nvSpPr>
        <p:spPr>
          <a:xfrm>
            <a:off x="99646" y="2513885"/>
            <a:ext cx="2491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$790M</a:t>
            </a:r>
            <a:endParaRPr b="1" sz="4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3" name="Google Shape;83;p18"/>
          <p:cNvSpPr txBox="1"/>
          <p:nvPr/>
        </p:nvSpPr>
        <p:spPr>
          <a:xfrm>
            <a:off x="76196" y="4227598"/>
            <a:ext cx="249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$7.3M</a:t>
            </a:r>
            <a:endParaRPr b="1" sz="2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4705300" y="533400"/>
            <a:ext cx="42657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Massive &gt;</a:t>
            </a:r>
            <a:r>
              <a:rPr b="1" lang="en" sz="23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$11.9B</a:t>
            </a:r>
            <a:r>
              <a:rPr b="1" lang="en" sz="2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running market with endless growth opportunities</a:t>
            </a:r>
            <a:endParaRPr b="1" sz="2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4725900" y="2024550"/>
            <a:ext cx="426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TAM: A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$11.9B </a:t>
            </a: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running-software market growing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13%</a:t>
            </a: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a year</a:t>
            </a:r>
            <a:endParaRPr b="1" sz="15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4731760" y="2897400"/>
            <a:ext cx="426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</a:t>
            </a: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AM: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$790M</a:t>
            </a: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serviceable market across English-speaking runners and teams</a:t>
            </a:r>
            <a:endParaRPr b="1" sz="15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4737621" y="3784904"/>
            <a:ext cx="426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SOM: A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$7.3M</a:t>
            </a: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business that needs just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0.9%</a:t>
            </a: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share</a:t>
            </a:r>
            <a:endParaRPr b="1" sz="15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4225" y="105823"/>
            <a:ext cx="288125" cy="2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227900" y="285325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Team</a:t>
            </a:r>
            <a:endParaRPr i="0" sz="25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263775" y="1075600"/>
            <a:ext cx="1143000" cy="1143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/>
          <p:nvPr/>
        </p:nvSpPr>
        <p:spPr>
          <a:xfrm>
            <a:off x="1573125" y="1283500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Adhiban Arulselvan</a:t>
            </a:r>
            <a:endParaRPr b="1" sz="25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Co-Founder</a:t>
            </a:r>
            <a:endParaRPr b="1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6127527" y="1283490"/>
            <a:ext cx="41781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Taran Bheemagani</a:t>
            </a:r>
            <a:endParaRPr b="1" sz="25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Co-Founder</a:t>
            </a:r>
            <a:endParaRPr b="1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151700" y="2611125"/>
            <a:ext cx="4090200" cy="21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300"/>
              <a:buFont typeface="Google Sans"/>
              <a:buChar char="●"/>
            </a:pPr>
            <a:r>
              <a:rPr b="1" lang="en" sz="13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RTM Pose</a:t>
            </a:r>
            <a:r>
              <a:rPr b="1" lang="en" sz="13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 pose pipeline, 11-metric sagittal engine, phase detection, single-athlete tracker, per-metric trust gating.</a:t>
            </a:r>
            <a:endParaRPr b="1" sz="13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300"/>
              <a:buFont typeface="Google Sans"/>
              <a:buChar char="●"/>
            </a:pPr>
            <a:r>
              <a:rPr b="1" lang="en" sz="13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Created the groundwork for centroid-based frame tracking: A multi-frame based analysis structure. </a:t>
            </a:r>
            <a:endParaRPr b="1" sz="13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300"/>
              <a:buFont typeface="Google Sans"/>
              <a:buChar char="●"/>
            </a:pPr>
            <a:r>
              <a:rPr b="1" lang="en" sz="13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Created a framework for an experimental angle-agnostic design.</a:t>
            </a:r>
            <a:endParaRPr b="1" sz="13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8" name="Google Shape;98;p19"/>
          <p:cNvSpPr/>
          <p:nvPr/>
        </p:nvSpPr>
        <p:spPr>
          <a:xfrm>
            <a:off x="4267200" y="2611125"/>
            <a:ext cx="48768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300"/>
              <a:buFont typeface="Google Sans"/>
              <a:buChar char="●"/>
            </a:pPr>
            <a:r>
              <a:rPr b="1" lang="en" sz="13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Full AWS production stack (ECS Fargate, ALB, Aurora DSQL, S3, SQS) using Terraform.</a:t>
            </a:r>
            <a:endParaRPr b="1" sz="13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300"/>
              <a:buFont typeface="Google Sans"/>
              <a:buChar char="●"/>
            </a:pPr>
            <a:r>
              <a:rPr b="1" lang="en" sz="13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IAM token-based database auth, least-privilege security groups, and auto-scaling policies. </a:t>
            </a:r>
            <a:endParaRPr b="1" sz="13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300"/>
              <a:buFont typeface="Google Sans"/>
              <a:buChar char="●"/>
            </a:pPr>
            <a:r>
              <a:rPr b="1" lang="en" sz="13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Adopted an IoU-based frame tracking, which lowered detection errors to 0. </a:t>
            </a:r>
            <a:endParaRPr b="1" sz="13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300"/>
              <a:buFont typeface="Google Sans"/>
              <a:buChar char="●"/>
            </a:pPr>
            <a:r>
              <a:rPr b="1" lang="en" sz="13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Formulated metric sensitivity protocols to produce a logic-backed form score.</a:t>
            </a:r>
            <a:endParaRPr b="1" sz="13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4225" y="105823"/>
            <a:ext cx="288125" cy="23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 rotWithShape="1">
          <a:blip r:embed="rId4">
            <a:alphaModFix/>
          </a:blip>
          <a:srcRect b="9518" l="0" r="0" t="14152"/>
          <a:stretch/>
        </p:blipFill>
        <p:spPr>
          <a:xfrm>
            <a:off x="4940425" y="1054750"/>
            <a:ext cx="1034400" cy="1184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/>
          <p:nvPr/>
        </p:nvSpPr>
        <p:spPr>
          <a:xfrm>
            <a:off x="227900" y="285325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Features/Demo</a:t>
            </a:r>
            <a:endParaRPr i="0" sz="25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6" name="Google Shape;106;p20"/>
          <p:cNvSpPr/>
          <p:nvPr/>
        </p:nvSpPr>
        <p:spPr>
          <a:xfrm>
            <a:off x="227900" y="784900"/>
            <a:ext cx="4696500" cy="3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Georgia"/>
              <a:buChar char="●"/>
            </a:pPr>
            <a:r>
              <a:rPr b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Angle agnostic: </a:t>
            </a:r>
            <a:r>
              <a:rPr b="1" lang="en" sz="13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Runners can record a video for any angle and receive accurate feedback</a:t>
            </a:r>
            <a:r>
              <a:rPr b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.</a:t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Google Sans"/>
              <a:buChar char="○"/>
            </a:pPr>
            <a:r>
              <a:rPr b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Analyzes 3D clip using a production engine at multiple angles.</a:t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Georgia"/>
              <a:buChar char="●"/>
            </a:pPr>
            <a:r>
              <a:rPr b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WHAM: Our machine learning model employs a </a:t>
            </a:r>
            <a:r>
              <a:rPr b="1" lang="en" sz="13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3D monocular lift</a:t>
            </a:r>
            <a:r>
              <a:rPr b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.</a:t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Georgia"/>
              <a:buChar char="○"/>
            </a:pPr>
            <a:r>
              <a:rPr b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Analysis considers the real-world physics of motion. </a:t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BF9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Google Sans"/>
              <a:buChar char="●"/>
            </a:pPr>
            <a:r>
              <a:rPr b="1" lang="en" sz="13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Trust tiers</a:t>
            </a:r>
            <a:r>
              <a:rPr b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: Any metric our ML model cannot validate at 100% certainty is marked </a:t>
            </a:r>
            <a:r>
              <a:rPr b="1" i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experimental. </a:t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Google Sans"/>
              <a:buChar char="○"/>
            </a:pPr>
            <a:r>
              <a:rPr b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Different metric weights influence </a:t>
            </a:r>
            <a:r>
              <a:rPr b="1" i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Form Score.</a:t>
            </a:r>
            <a:endParaRPr b="1" i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7" name="Google Shape;107;p20" title="ScreenRecording_07-26-2026 17-33-33_1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9200" y="1372825"/>
            <a:ext cx="4162700" cy="312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44225" y="105823"/>
            <a:ext cx="288125" cy="2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/>
        </p:nvSpPr>
        <p:spPr>
          <a:xfrm>
            <a:off x="411125" y="764925"/>
            <a:ext cx="43488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$1</a:t>
            </a:r>
            <a:r>
              <a:rPr b="1" lang="en" sz="8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b="1" lang="en" sz="1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/month for Premium Features</a:t>
            </a:r>
            <a:endParaRPr b="1"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783225" y="2208700"/>
            <a:ext cx="3512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To access</a:t>
            </a:r>
            <a:endParaRPr b="1" sz="2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oogle Sans"/>
              <a:buChar char="-"/>
            </a:pPr>
            <a:r>
              <a:rPr b="1" lang="en" sz="2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LLM coach</a:t>
            </a:r>
            <a:endParaRPr b="1" sz="2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oogle Sans"/>
              <a:buChar char="-"/>
            </a:pPr>
            <a:r>
              <a:rPr b="1" lang="en" sz="2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Progress Tab</a:t>
            </a:r>
            <a:endParaRPr b="1" sz="2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oogle Sans"/>
              <a:buChar char="-"/>
            </a:pPr>
            <a:r>
              <a:rPr b="1" lang="en" sz="2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Training Plan </a:t>
            </a:r>
            <a:endParaRPr b="1" sz="2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5138320" y="1392975"/>
            <a:ext cx="3512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Free Tier</a:t>
            </a:r>
            <a:endParaRPr b="1" sz="5000">
              <a:solidFill>
                <a:srgbClr val="E8C87D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5342775" y="2373800"/>
            <a:ext cx="351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Access to video analysis</a:t>
            </a:r>
            <a:endParaRPr b="1" sz="2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117" name="Google Shape;117;p21"/>
          <p:cNvCxnSpPr/>
          <p:nvPr/>
        </p:nvCxnSpPr>
        <p:spPr>
          <a:xfrm>
            <a:off x="4814850" y="517350"/>
            <a:ext cx="9000" cy="33381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21"/>
          <p:cNvSpPr/>
          <p:nvPr/>
        </p:nvSpPr>
        <p:spPr>
          <a:xfrm>
            <a:off x="227900" y="285325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Business Model</a:t>
            </a:r>
            <a:endParaRPr i="0" sz="25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201000" y="4019775"/>
            <a:ext cx="86457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205500" y="3923475"/>
            <a:ext cx="8733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Estimated 90% profit margins</a:t>
            </a:r>
            <a:endParaRPr b="1" sz="2500">
              <a:solidFill>
                <a:srgbClr val="E8C87D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oogle Sans"/>
              <a:buChar char="-"/>
            </a:pP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Hosting backend on AWS + running servers scaled to 100k users: &lt;$5,000/month</a:t>
            </a:r>
            <a:endParaRPr b="1" sz="15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oogle Sans"/>
              <a:buChar char="-"/>
            </a:pP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90%+ of users buy low-cost monthly rate: &gt;$95,000 monthly profit</a:t>
            </a:r>
            <a:endParaRPr b="1" sz="15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4225" y="105823"/>
            <a:ext cx="288125" cy="2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4225" y="105823"/>
            <a:ext cx="288125" cy="2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/>
          <p:nvPr/>
        </p:nvSpPr>
        <p:spPr>
          <a:xfrm>
            <a:off x="227900" y="285325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Competitors</a:t>
            </a:r>
            <a:endParaRPr i="0" sz="25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28" name="Google Shape;128;p22"/>
          <p:cNvGraphicFramePr/>
          <p:nvPr/>
        </p:nvGraphicFramePr>
        <p:xfrm>
          <a:off x="291850" y="92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{5B638B71-787F-4E51-844D-C6DBB57EFCB8}</a:tableStyleId>
              </a:tblPr>
              <a:tblGrid>
                <a:gridCol w="1371725"/>
                <a:gridCol w="1371725"/>
                <a:gridCol w="1371725"/>
                <a:gridCol w="1371725"/>
                <a:gridCol w="1371725"/>
                <a:gridCol w="1371725"/>
              </a:tblGrid>
              <a:tr h="5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2EF"/>
                        </a:buClr>
                        <a:buSzPts val="5371"/>
                        <a:buFont typeface="Helvetica Neue"/>
                        <a:buNone/>
                      </a:pPr>
                      <a:r>
                        <a:rPr b="1" lang="en" sz="1500">
                          <a:solidFill>
                            <a:srgbClr val="BF9000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Stride</a:t>
                      </a:r>
                      <a:endParaRPr sz="1500">
                        <a:solidFill>
                          <a:srgbClr val="BF90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Ochy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GaitLAB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Hudl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VueMotion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Sprint-specific biometrics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>
                          <a:solidFill>
                            <a:srgbClr val="BF9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 sz="2500">
                        <a:solidFill>
                          <a:srgbClr val="BF9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Any-angle videos analysis on phone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rgbClr val="BF9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3D Gravity Alignment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rgbClr val="BF9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Low cost (&lt;$5/month) 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rgbClr val="BF9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Full ecosystem (Coach, Workouts, etc.)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rgbClr val="BF9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4225" y="105823"/>
            <a:ext cx="288125" cy="2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227900" y="285325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Roadmap</a:t>
            </a:r>
            <a:endParaRPr i="0" sz="25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/>
          <p:nvPr/>
        </p:nvSpPr>
        <p:spPr>
          <a:xfrm>
            <a:off x="227900" y="285325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Our Ask</a:t>
            </a:r>
            <a:endParaRPr i="0" sz="25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0" name="Google Shape;140;p24"/>
          <p:cNvSpPr/>
          <p:nvPr/>
        </p:nvSpPr>
        <p:spPr>
          <a:xfrm>
            <a:off x="227900" y="1031550"/>
            <a:ext cx="8990100" cy="3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Raise pre-seed round of 125k and accomplish tasks in 12 months</a:t>
            </a:r>
            <a:endParaRPr b="1" sz="20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eorgia"/>
              <a:buChar char="●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Train ML model on diverse running forms to generalize 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use case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 -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not just sprinting, jogging, 15+ different races, starts/finishes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.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eorgia"/>
              <a:buChar char="●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Gain traction with local businesses and acquire first 1,000 paying users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eorgia"/>
              <a:buChar char="●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Hire marketing/partnership team member (Capture $7.3M SOM with 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targeted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 marketing)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Use of funds breakdown (example):</a:t>
            </a:r>
            <a:endParaRPr b="1" sz="20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65% — User acquisition &amp; marketing (Track team partnerships, targeted outreach)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35% — Engineering (infra scale, ML model robustness)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4225" y="105823"/>
            <a:ext cx="288125" cy="2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5" title="gold_stride_logo.png"/>
          <p:cNvPicPr preferRelativeResize="0"/>
          <p:nvPr/>
        </p:nvPicPr>
        <p:blipFill rotWithShape="1">
          <a:blip r:embed="rId3">
            <a:alphaModFix/>
          </a:blip>
          <a:srcRect b="37991" l="16740" r="13129" t="31630"/>
          <a:stretch/>
        </p:blipFill>
        <p:spPr>
          <a:xfrm>
            <a:off x="2116724" y="1505348"/>
            <a:ext cx="4677274" cy="135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5"/>
          <p:cNvSpPr/>
          <p:nvPr/>
        </p:nvSpPr>
        <p:spPr>
          <a:xfrm>
            <a:off x="1223700" y="3093840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0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Thank you for your time. Let’s work together to bridge the gap </a:t>
            </a:r>
            <a:r>
              <a:rPr b="1" lang="en" sz="20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between running and technology!</a:t>
            </a:r>
            <a:endParaRPr i="0" sz="20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