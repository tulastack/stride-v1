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7" r:id="rId23"/>
    <p:sldId id="266" r:id="rId18"/>
  </p:sldIdLst>
  <p:sldSz cy="5143500" cx="9144000"/>
  <p:notesSz cx="6858000" cy="9144000"/>
  <p:embeddedFontLst>
    <p:embeddedFont>
      <p:font typeface="Google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638B71-787F-4E51-844D-C6DBB57EFCB8}">
  <a:tblStyle styleId="{5B638B71-787F-4E51-844D-C6DBB57EFC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font" Target="fonts/GoogleSans-regular.fntdata"/><Relationship Id="rId20" Type="http://schemas.openxmlformats.org/officeDocument/2006/relationships/font" Target="fonts/GoogleSans-bold.fntdata"/><Relationship Id="rId21" Type="http://schemas.openxmlformats.org/officeDocument/2006/relationships/font" Target="fonts/GoogleSans-italic.fntdata"/><Relationship Id="rId22" Type="http://schemas.openxmlformats.org/officeDocument/2006/relationships/font" Target="fonts/GoogleSans-boldItalic.fntdata"/><Relationship Id="rId2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3c6dc6df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f3c6dc6df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6098fad20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6098fad20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6098fad20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6098fad20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098fad20_5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6098fad20_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098fad20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6098fad20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098fad20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098fad20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098fad20_5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098fad20_5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098fad20_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6098fad20_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098fad20_4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6098fad20_4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098fad20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098fad20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098fad20_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6098fad20_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JxBKSKx62PU2cnToI8A25zYwoLZDsoIR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 title="gold_stride_logo.png"/>
          <p:cNvPicPr preferRelativeResize="0"/>
          <p:nvPr/>
        </p:nvPicPr>
        <p:blipFill rotWithShape="1">
          <a:blip r:embed="rId3">
            <a:alphaModFix/>
          </a:blip>
          <a:srcRect b="37991" l="16740" r="13129" t="31630"/>
          <a:stretch/>
        </p:blipFill>
        <p:spPr>
          <a:xfrm>
            <a:off x="2116724" y="1505348"/>
            <a:ext cx="4677274" cy="13507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1223700" y="30352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3D biometric running form analysis app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227900" y="775750"/>
            <a:ext cx="6002700" cy="3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Elite sprint coaching costs $200–500/session. It is inaccessible to majority of young runners.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Middle/high school running teams are large: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majority of runners get no coach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attention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. Thus, form errors and running issues persist.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Current running form analyzers require a video to be taken in highly specific conditions (often side-on, perfect lighting, runner in a certain position). Many times, racing form analysis do not meet these conditions.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64" name="Google Shape;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nner with injured calf (Provided by Getty Images)" id="65" name="Google Shape;65;p16"/>
          <p:cNvPicPr preferRelativeResize="0"/>
          <p:nvPr/>
        </p:nvPicPr>
        <p:blipFill rotWithShape="1">
          <a:blip r:embed="rId4">
            <a:alphaModFix/>
          </a:blip>
          <a:srcRect b="0" l="14501" r="30002" t="0"/>
          <a:stretch/>
        </p:blipFill>
        <p:spPr>
          <a:xfrm>
            <a:off x="6507750" y="1329249"/>
            <a:ext cx="2325000" cy="2749200"/>
          </a:xfrm>
          <a:prstGeom prst="roundRect">
            <a:avLst>
              <a:gd fmla="val 1201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227900" y="931025"/>
            <a:ext cx="5710500" cy="38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Film a sprint at any angle and upload it onto the app.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Get a full biomechanical breakdown for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10+ metrics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in ~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15 seconds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joint angles, stride timing, form flaws, etc</a:t>
            </a:r>
            <a:r>
              <a:rPr b="1" lang="en" sz="1500">
                <a:solidFill>
                  <a:srgbClr val="BF9000"/>
                </a:solidFill>
                <a:latin typeface="Google Sans"/>
                <a:ea typeface="Google Sans"/>
                <a:cs typeface="Google Sans"/>
                <a:sym typeface="Google Sans"/>
              </a:rPr>
              <a:t>. </a:t>
            </a:r>
            <a:endParaRPr b="1" sz="1500">
              <a:solidFill>
                <a:srgbClr val="BF9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Costs are minimal compared to private training - affordable for amateur runners.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"/>
              <a:buChar char="●"/>
            </a:pP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AI Coach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provides more general advice: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hydration, recruitment, in-depth analysis, etc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ogle Sans"/>
              <a:buChar char="○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Real-time, instant coaching advice.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descr="Rear view of boy running on track (Provided by Getty Images)" id="72" name="Google Shape;72;p17"/>
          <p:cNvPicPr preferRelativeResize="0"/>
          <p:nvPr/>
        </p:nvPicPr>
        <p:blipFill rotWithShape="1">
          <a:blip r:embed="rId3">
            <a:alphaModFix/>
          </a:blip>
          <a:srcRect b="11946" l="0" r="0" t="1173"/>
          <a:stretch/>
        </p:blipFill>
        <p:spPr>
          <a:xfrm>
            <a:off x="6235646" y="1104575"/>
            <a:ext cx="2678100" cy="349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73" name="Google Shape;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-2736831" y="-1509900"/>
            <a:ext cx="7358100" cy="7358100"/>
          </a:xfrm>
          <a:prstGeom prst="ellipse">
            <a:avLst/>
          </a:prstGeom>
          <a:solidFill>
            <a:srgbClr val="2A2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/>
          <p:nvPr/>
        </p:nvSpPr>
        <p:spPr>
          <a:xfrm>
            <a:off x="-449925" y="1597200"/>
            <a:ext cx="3546300" cy="3546300"/>
          </a:xfrm>
          <a:prstGeom prst="ellipse">
            <a:avLst/>
          </a:prstGeom>
          <a:solidFill>
            <a:srgbClr val="6B5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8"/>
          <p:cNvSpPr/>
          <p:nvPr/>
        </p:nvSpPr>
        <p:spPr>
          <a:xfrm>
            <a:off x="636675" y="3770400"/>
            <a:ext cx="1373100" cy="1373100"/>
          </a:xfrm>
          <a:prstGeom prst="ellipse">
            <a:avLst/>
          </a:prstGeom>
          <a:solidFill>
            <a:srgbClr val="E8C8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8"/>
          <p:cNvSpPr txBox="1"/>
          <p:nvPr/>
        </p:nvSpPr>
        <p:spPr>
          <a:xfrm>
            <a:off x="77625" y="304800"/>
            <a:ext cx="249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$11.9B</a:t>
            </a:r>
            <a:endParaRPr b="1" sz="6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2" name="Google Shape;82;p18"/>
          <p:cNvSpPr txBox="1"/>
          <p:nvPr/>
        </p:nvSpPr>
        <p:spPr>
          <a:xfrm>
            <a:off x="99646" y="2513885"/>
            <a:ext cx="2491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$790M</a:t>
            </a:r>
            <a:endParaRPr b="1" sz="4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3" name="Google Shape;83;p18"/>
          <p:cNvSpPr txBox="1"/>
          <p:nvPr/>
        </p:nvSpPr>
        <p:spPr>
          <a:xfrm>
            <a:off x="76196" y="4227598"/>
            <a:ext cx="249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$7.3M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4705300" y="533400"/>
            <a:ext cx="42657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Massive &gt;</a:t>
            </a:r>
            <a:r>
              <a:rPr b="1" lang="en" sz="23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$11.9B</a:t>
            </a:r>
            <a:r>
              <a:rPr b="1" lang="en" sz="23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running market with endless growth opportunities</a:t>
            </a:r>
            <a:endParaRPr b="1" sz="23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725900" y="2024550"/>
            <a:ext cx="426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TAM: A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$11.9B 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running-software market growing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13%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a year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4731760" y="2897400"/>
            <a:ext cx="426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AM: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$790M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serviceable market across English-speaking runners and teams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4737621" y="3784904"/>
            <a:ext cx="426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SOM: A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$7.3M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business that needs just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0.9%</a:t>
            </a: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share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Team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263775" y="1075600"/>
            <a:ext cx="1143000" cy="1143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1573125" y="1283500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Adhiban Arulselvan</a:t>
            </a:r>
            <a:endParaRPr b="1" sz="25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Co-Founder</a:t>
            </a:r>
            <a:endParaRPr b="1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6127527" y="1283490"/>
            <a:ext cx="41781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Taran Bheemagani</a:t>
            </a:r>
            <a:endParaRPr b="1" sz="25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Co-Founder</a:t>
            </a:r>
            <a:endParaRPr b="1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151700" y="2611125"/>
            <a:ext cx="4090200" cy="21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RTM Pose</a:t>
            </a: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 pose pipeline, 11-metric sagittal engine, phase detection, single-athlete tracker, per-metric trust gating.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Created the groundwork for centroid-based frame tracking: A multi-frame based analysis structure. 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Created a framework for an experimental angle-agnostic design.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4267200" y="2611125"/>
            <a:ext cx="48768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Full AWS production stack (ECS Fargate, ALB, Aurora DSQL, S3, SQS) using Terraform.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IAM token-based database auth, least-privilege security groups, and auto-scaling policies. 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Adopted an IoU-based frame tracking, which lowered detection errors to 0. 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Formulated metric sensitivity protocols to produce a logic-backed form score.</a:t>
            </a:r>
            <a:endParaRPr b="1" sz="1300">
              <a:solidFill>
                <a:srgbClr val="F2F2E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 rotWithShape="1">
          <a:blip r:embed="rId4">
            <a:alphaModFix/>
          </a:blip>
          <a:srcRect b="9518" l="0" r="0" t="14152"/>
          <a:stretch/>
        </p:blipFill>
        <p:spPr>
          <a:xfrm>
            <a:off x="4940425" y="1054750"/>
            <a:ext cx="1034400" cy="1184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Features/Demo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227900" y="784900"/>
            <a:ext cx="4696500" cy="3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eorgia"/>
              <a:buChar char="●"/>
            </a:pP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Angle agnostic: </a:t>
            </a:r>
            <a:r>
              <a:rPr b="1" lang="en" sz="13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Runners can record a video for any angle and receive accurate feedback</a:t>
            </a: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oogle Sans"/>
              <a:buChar char="○"/>
            </a:pP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Analyzes 3D clip using a production engine at multiple angles.</a:t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eorgia"/>
              <a:buChar char="●"/>
            </a:pP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WHAM: Our machine learning model employs a </a:t>
            </a:r>
            <a:r>
              <a:rPr b="1" lang="en" sz="13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3D monocular lift</a:t>
            </a: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eorgia"/>
              <a:buChar char="○"/>
            </a:pP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Analysis considers the real-world physics of motion. </a:t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BF9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oogle Sans"/>
              <a:buChar char="●"/>
            </a:pPr>
            <a:r>
              <a:rPr b="1" lang="en" sz="13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Trust tiers</a:t>
            </a: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: Any metric our ML model cannot validate at 100% certainty is marked </a:t>
            </a:r>
            <a:r>
              <a:rPr b="1" i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experimental. </a:t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Google Sans"/>
              <a:buChar char="○"/>
            </a:pPr>
            <a:r>
              <a:rPr b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Different metric weights influence </a:t>
            </a:r>
            <a:r>
              <a:rPr b="1" i="1" lang="en" sz="13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Form Score.</a:t>
            </a:r>
            <a:endParaRPr b="1" i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7" name="Google Shape;107;p20" title="ScreenRecording_07-26-2026 17-33-33_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9200" y="1372825"/>
            <a:ext cx="4162700" cy="312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411125" y="764925"/>
            <a:ext cx="4348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$1</a:t>
            </a:r>
            <a:r>
              <a:rPr b="1" lang="en" sz="8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1" lang="en" sz="1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/month for Premium Features</a:t>
            </a:r>
            <a:endParaRPr b="1"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783225" y="2208700"/>
            <a:ext cx="3512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To access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oogle Sans"/>
              <a:buChar char="-"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LLM coach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oogle Sans"/>
              <a:buChar char="-"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Progress Tab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oogle Sans"/>
              <a:buChar char="-"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Training Plan 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5138320" y="1392975"/>
            <a:ext cx="3512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Free Tier</a:t>
            </a:r>
            <a:endParaRPr b="1" sz="5000">
              <a:solidFill>
                <a:srgbClr val="E8C87D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5342775" y="2373800"/>
            <a:ext cx="351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Access to video analysis</a:t>
            </a:r>
            <a:endParaRPr b="1" sz="2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4814850" y="517350"/>
            <a:ext cx="9000" cy="33381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21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Business Model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201000" y="4019775"/>
            <a:ext cx="86457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205500" y="3923475"/>
            <a:ext cx="8733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Estimated 90% profit margins</a:t>
            </a:r>
            <a:endParaRPr b="1" sz="2500">
              <a:solidFill>
                <a:srgbClr val="E8C87D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ogle Sans"/>
              <a:buChar char="-"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Hosting backend on AWS + running servers scaled to 100k users: &lt;$5,000/month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oogle Sans"/>
              <a:buChar char="-"/>
            </a:pPr>
            <a:r>
              <a:rPr b="1" lang="en" sz="15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90%+ of users buy low-cost monthly rate: &gt;$95,000 monthly profit</a:t>
            </a:r>
            <a:endParaRPr b="1" sz="15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Competitors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28" name="Google Shape;128;p22"/>
          <p:cNvGraphicFramePr/>
          <p:nvPr/>
        </p:nvGraphicFramePr>
        <p:xfrm>
          <a:off x="291850" y="92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{5B638B71-787F-4E51-844D-C6DBB57EFCB8}</a:tableStyleId>
              </a:tblPr>
              <a:tblGrid>
                <a:gridCol w="1371725"/>
                <a:gridCol w="1371725"/>
                <a:gridCol w="1371725"/>
                <a:gridCol w="1371725"/>
                <a:gridCol w="1371725"/>
                <a:gridCol w="1371725"/>
              </a:tblGrid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F2EF"/>
                        </a:buClr>
                        <a:buSzPts val="5371"/>
                        <a:buFont typeface="Helvetica Neue"/>
                        <a:buNone/>
                      </a:pPr>
                      <a:r>
                        <a:rPr b="1" lang="en" sz="1500">
                          <a:solidFill>
                            <a:srgbClr val="BF9000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Stride</a:t>
                      </a:r>
                      <a:endParaRPr sz="1500">
                        <a:solidFill>
                          <a:srgbClr val="BF90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Ochy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GaitLAB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Hudl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VueMotion</a:t>
                      </a:r>
                      <a:endParaRPr sz="15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Sprint-specific biometrics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rgbClr val="BF9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 sz="2500">
                        <a:solidFill>
                          <a:srgbClr val="BF9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Any-angle videos analysis on phone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rgbClr val="BF9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3D Gravity Alignment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rgbClr val="BF9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Low cost (&lt;$5/month) 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rgbClr val="BF9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Full ecosystem (Coach, Workouts, etc.)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rgbClr val="BF9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500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Roadmap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227900" y="700000"/>
            <a:ext cx="69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9E9E9E"/>
                </a:solidFill>
                <a:latin typeface="Google Sans"/>
              </a:rPr>
              <a:t>A verified sprint engine today — an any-angle, any-distance coaching platform in six quarters.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620000" y="930000"/>
            <a:ext cx="4893333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1" spc="140">
                <a:solidFill>
                  <a:srgbClr val="E8C87D"/>
                </a:solidFill>
                <a:latin typeface="Google Sans"/>
              </a:rPr>
              <a:t>THIS ROUND  ·  $125K  ·  12 MONTHS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620000" y="1105000"/>
            <a:ext cx="4893333" cy="0"/>
          </a:xfrm>
          <a:prstGeom prst="line">
            <a:avLst/>
          </a:prstGeom>
          <a:ln w="15875">
            <a:solidFill>
              <a:srgbClr val="BF9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620000" y="1105000"/>
            <a:ext cx="0" cy="55000"/>
          </a:xfrm>
          <a:prstGeom prst="line">
            <a:avLst/>
          </a:prstGeom>
          <a:ln w="15875">
            <a:solidFill>
              <a:srgbClr val="BF9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513333" y="1105000"/>
            <a:ext cx="0" cy="55000"/>
          </a:xfrm>
          <a:prstGeom prst="line">
            <a:avLst/>
          </a:prstGeom>
          <a:ln w="15875">
            <a:solidFill>
              <a:srgbClr val="BF9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1620000" y="1175000"/>
            <a:ext cx="1223333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80">
                <a:solidFill>
                  <a:srgbClr val="9E9E9E"/>
                </a:solidFill>
                <a:latin typeface="Google Sans"/>
              </a:rPr>
              <a:t>3Q26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843333" y="1175000"/>
            <a:ext cx="1223333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80">
                <a:solidFill>
                  <a:srgbClr val="9E9E9E"/>
                </a:solidFill>
                <a:latin typeface="Google Sans"/>
              </a:rPr>
              <a:t>4Q26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066666" y="1175000"/>
            <a:ext cx="1223333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80">
                <a:solidFill>
                  <a:srgbClr val="9E9E9E"/>
                </a:solidFill>
                <a:latin typeface="Google Sans"/>
              </a:rPr>
              <a:t>1Q27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290000" y="1175000"/>
            <a:ext cx="1223333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80">
                <a:solidFill>
                  <a:srgbClr val="9E9E9E"/>
                </a:solidFill>
                <a:latin typeface="Google Sans"/>
              </a:rPr>
              <a:t>2Q27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513333" y="1175000"/>
            <a:ext cx="1223333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80">
                <a:solidFill>
                  <a:srgbClr val="9E9E9E"/>
                </a:solidFill>
                <a:latin typeface="Google Sans"/>
              </a:rPr>
              <a:t>3Q27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736666" y="1175000"/>
            <a:ext cx="1223333" cy="1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80">
                <a:solidFill>
                  <a:srgbClr val="9E9E9E"/>
                </a:solidFill>
                <a:latin typeface="Google Sans"/>
              </a:rPr>
              <a:t>4Q27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620000" y="1330000"/>
            <a:ext cx="0" cy="3600000"/>
          </a:xfrm>
          <a:prstGeom prst="line">
            <a:avLst/>
          </a:prstGeom>
          <a:ln w="9525" cap="rnd">
            <a:solidFill>
              <a:srgbClr val="4A46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2843333" y="1330000"/>
            <a:ext cx="0" cy="3600000"/>
          </a:xfrm>
          <a:prstGeom prst="line">
            <a:avLst/>
          </a:prstGeom>
          <a:ln w="9525" cap="rnd">
            <a:solidFill>
              <a:srgbClr val="4A46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066666" y="1330000"/>
            <a:ext cx="0" cy="3600000"/>
          </a:xfrm>
          <a:prstGeom prst="line">
            <a:avLst/>
          </a:prstGeom>
          <a:ln w="9525" cap="rnd">
            <a:solidFill>
              <a:srgbClr val="4A46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290000" y="1330000"/>
            <a:ext cx="0" cy="3600000"/>
          </a:xfrm>
          <a:prstGeom prst="line">
            <a:avLst/>
          </a:prstGeom>
          <a:ln w="9525" cap="rnd">
            <a:solidFill>
              <a:srgbClr val="4A46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513333" y="1330000"/>
            <a:ext cx="0" cy="3600000"/>
          </a:xfrm>
          <a:prstGeom prst="line">
            <a:avLst/>
          </a:prstGeom>
          <a:ln w="9525" cap="rnd">
            <a:solidFill>
              <a:srgbClr val="4A46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736666" y="1330000"/>
            <a:ext cx="0" cy="3600000"/>
          </a:xfrm>
          <a:prstGeom prst="line">
            <a:avLst/>
          </a:prstGeom>
          <a:ln w="9525" cap="rnd">
            <a:solidFill>
              <a:srgbClr val="4A46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960000" y="1330000"/>
            <a:ext cx="0" cy="3600000"/>
          </a:xfrm>
          <a:prstGeom prst="line">
            <a:avLst/>
          </a:prstGeom>
          <a:ln w="9525" cap="rnd">
            <a:solidFill>
              <a:srgbClr val="4A464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227900" y="1375000"/>
            <a:ext cx="58000" cy="810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57900" y="1545000"/>
            <a:ext cx="14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spc="60">
                <a:solidFill>
                  <a:srgbClr val="E8C87D"/>
                </a:solidFill>
                <a:latin typeface="Google Sans"/>
              </a:rPr>
              <a:t>PLATFORM</a:t>
            </a:r>
          </a:p>
          <a:p>
            <a:r>
              <a:rPr sz="750" b="0">
                <a:solidFill>
                  <a:srgbClr val="9E9E9E"/>
                </a:solidFill>
                <a:latin typeface="Google Sans"/>
              </a:rPr>
              <a:t>Ship &amp; harden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620000" y="1485000"/>
            <a:ext cx="856333" cy="250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TLS · WAF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598666" y="1485000"/>
            <a:ext cx="1223333" cy="250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App Store launch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412333" y="1485000"/>
            <a:ext cx="1345666" cy="250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Android · Play Store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271500" y="1825000"/>
            <a:ext cx="1345666" cy="250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CI/CD · alarms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984166" y="1825000"/>
            <a:ext cx="2018500" cy="250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Coach web dashboard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27900" y="2275000"/>
            <a:ext cx="58000" cy="810000"/>
          </a:xfrm>
          <a:prstGeom prst="rect">
            <a:avLst/>
          </a:prstGeom>
          <a:solidFill>
            <a:srgbClr val="5F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57900" y="2445000"/>
            <a:ext cx="14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spc="60">
                <a:solidFill>
                  <a:srgbClr val="5FC9B0"/>
                </a:solidFill>
                <a:latin typeface="Google Sans"/>
              </a:rPr>
              <a:t>ML ENGINE</a:t>
            </a:r>
          </a:p>
          <a:p>
            <a:r>
              <a:rPr sz="750" b="0">
                <a:solidFill>
                  <a:srgbClr val="9E9E9E"/>
                </a:solidFill>
                <a:latin typeface="Google Sans"/>
              </a:rPr>
              <a:t>Earn the angle claim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227900" y="2230000"/>
            <a:ext cx="8732100" cy="0"/>
          </a:xfrm>
          <a:prstGeom prst="line">
            <a:avLst/>
          </a:prstGeom>
          <a:ln w="9525">
            <a:solidFill>
              <a:srgbClr val="3A3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/>
          <p:cNvSpPr/>
          <p:nvPr/>
        </p:nvSpPr>
        <p:spPr>
          <a:xfrm>
            <a:off x="1620000" y="2385000"/>
            <a:ext cx="1590333" cy="250000"/>
          </a:xfrm>
          <a:prstGeom prst="rect">
            <a:avLst/>
          </a:prstGeom>
          <a:solidFill>
            <a:srgbClr val="5F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Mocap validation set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332666" y="2385000"/>
            <a:ext cx="1712666" cy="250000"/>
          </a:xfrm>
          <a:prstGeom prst="rect">
            <a:avLst/>
          </a:prstGeom>
          <a:solidFill>
            <a:srgbClr val="5F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IMU gravity fusion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167666" y="2385000"/>
            <a:ext cx="1712666" cy="250000"/>
          </a:xfrm>
          <a:prstGeom prst="rect">
            <a:avLst/>
          </a:prstGeom>
          <a:solidFill>
            <a:srgbClr val="5F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Head-on → trusted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146333" y="2725000"/>
            <a:ext cx="1590333" cy="250000"/>
          </a:xfrm>
          <a:prstGeom prst="rect">
            <a:avLst/>
          </a:prstGeom>
          <a:solidFill>
            <a:srgbClr val="5F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Tier-3 injury metrics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858999" y="2725000"/>
            <a:ext cx="1101000" cy="250000"/>
          </a:xfrm>
          <a:prstGeom prst="rect">
            <a:avLst/>
          </a:prstGeom>
          <a:solidFill>
            <a:srgbClr val="5F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GPU 3D premium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27900" y="3175000"/>
            <a:ext cx="58000" cy="810000"/>
          </a:xfrm>
          <a:prstGeom prst="rect">
            <a:avLst/>
          </a:prstGeom>
          <a:solidFill>
            <a:srgbClr val="7FA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57900" y="3345000"/>
            <a:ext cx="14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spc="60">
                <a:solidFill>
                  <a:srgbClr val="7FA6E8"/>
                </a:solidFill>
                <a:latin typeface="Google Sans"/>
              </a:rPr>
              <a:t>PRODUCT</a:t>
            </a:r>
          </a:p>
          <a:p>
            <a:r>
              <a:rPr sz="750" b="0">
                <a:solidFill>
                  <a:srgbClr val="9E9E9E"/>
                </a:solidFill>
                <a:latin typeface="Google Sans"/>
              </a:rPr>
              <a:t>Coach, not just score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227900" y="3130000"/>
            <a:ext cx="8732100" cy="0"/>
          </a:xfrm>
          <a:prstGeom prst="line">
            <a:avLst/>
          </a:prstGeom>
          <a:ln w="9525">
            <a:solidFill>
              <a:srgbClr val="3A3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1803500" y="3285000"/>
            <a:ext cx="1162166" cy="250000"/>
          </a:xfrm>
          <a:prstGeom prst="rect">
            <a:avLst/>
          </a:prstGeom>
          <a:solidFill>
            <a:srgbClr val="7FA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120/240 fps capture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088000" y="3285000"/>
            <a:ext cx="1529166" cy="250000"/>
          </a:xfrm>
          <a:prstGeom prst="rect">
            <a:avLst/>
          </a:prstGeom>
          <a:solidFill>
            <a:srgbClr val="7FA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LLM coach · plans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800666" y="3285000"/>
            <a:ext cx="1712666" cy="250000"/>
          </a:xfrm>
          <a:prstGeom prst="rect">
            <a:avLst/>
          </a:prstGeom>
          <a:solidFill>
            <a:srgbClr val="7FA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Personal baselines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635666" y="3625000"/>
            <a:ext cx="1712666" cy="250000"/>
          </a:xfrm>
          <a:prstGeom prst="rect">
            <a:avLst/>
          </a:prstGeom>
          <a:solidFill>
            <a:srgbClr val="7FA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Squad rosters · coach view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7900" y="4075000"/>
            <a:ext cx="58000" cy="810000"/>
          </a:xfrm>
          <a:prstGeom prst="rect">
            <a:avLst/>
          </a:prstGeom>
          <a:solidFill>
            <a:srgbClr val="E88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57900" y="4245000"/>
            <a:ext cx="1400000" cy="4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spc="60">
                <a:solidFill>
                  <a:srgbClr val="E8865C"/>
                </a:solidFill>
                <a:latin typeface="Google Sans"/>
              </a:rPr>
              <a:t>GO-TO-MARKET</a:t>
            </a:r>
          </a:p>
          <a:p>
            <a:r>
              <a:rPr sz="750" b="0">
                <a:solidFill>
                  <a:srgbClr val="9E9E9E"/>
                </a:solidFill>
                <a:latin typeface="Google Sans"/>
              </a:rPr>
              <a:t>One coach is forty athletes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227900" y="4030000"/>
            <a:ext cx="8732100" cy="0"/>
          </a:xfrm>
          <a:prstGeom prst="line">
            <a:avLst/>
          </a:prstGeom>
          <a:ln w="9525">
            <a:solidFill>
              <a:srgbClr val="3A3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Rectangle 177"/>
          <p:cNvSpPr/>
          <p:nvPr/>
        </p:nvSpPr>
        <p:spPr>
          <a:xfrm>
            <a:off x="1987000" y="4185000"/>
            <a:ext cx="1467999" cy="250000"/>
          </a:xfrm>
          <a:prstGeom prst="rect">
            <a:avLst/>
          </a:prstGeom>
          <a:solidFill>
            <a:srgbClr val="E88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SD team pilots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577333" y="4185000"/>
            <a:ext cx="2201999" cy="250000"/>
          </a:xfrm>
          <a:prstGeom prst="rect">
            <a:avLst/>
          </a:prstGeom>
          <a:solidFill>
            <a:srgbClr val="E88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First 1,000 paying athletes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125000" y="4185000"/>
            <a:ext cx="1835000" cy="250000"/>
          </a:xfrm>
          <a:prstGeom prst="rect">
            <a:avLst/>
          </a:prstGeom>
          <a:solidFill>
            <a:srgbClr val="E88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Team season licences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311333" y="4525000"/>
            <a:ext cx="2691333" cy="250000"/>
          </a:xfrm>
          <a:prstGeom prst="rect">
            <a:avLst/>
          </a:prstGeom>
          <a:solidFill>
            <a:srgbClr val="E88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000000"/>
                </a:solidFill>
                <a:latin typeface="Google Sans"/>
              </a:rPr>
              <a:t>Marketing hire · coach network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227900" y="4930000"/>
            <a:ext cx="8732100" cy="0"/>
          </a:xfrm>
          <a:prstGeom prst="line">
            <a:avLst/>
          </a:prstGeom>
          <a:ln w="9525">
            <a:solidFill>
              <a:srgbClr val="3A3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227900" y="4965000"/>
            <a:ext cx="87321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0">
                <a:solidFill>
                  <a:srgbClr val="9E9E9E"/>
                </a:solidFill>
                <a:latin typeface="Google Sans"/>
              </a:rPr>
              <a:t>Sequenced from the repo's own research plan. The mocap validation set is a hard gate — every angle claim after it depends on measured error, not assertion.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>
            <a:off x="227900" y="285325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5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Our Ask</a:t>
            </a:r>
            <a:endParaRPr i="0" sz="25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227900" y="1031550"/>
            <a:ext cx="8990100" cy="3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Raise pre-seed round of 125k and accomplish tasks in 12 months</a:t>
            </a:r>
            <a:endParaRPr b="1" sz="20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Train ML model on diverse running forms to generalize 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use case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- </a:t>
            </a:r>
            <a:r>
              <a:rPr b="1" lang="en" sz="1500">
                <a:solidFill>
                  <a:srgbClr val="E8C87D"/>
                </a:solidFill>
                <a:latin typeface="Google Sans"/>
                <a:ea typeface="Google Sans"/>
                <a:cs typeface="Google Sans"/>
                <a:sym typeface="Google Sans"/>
              </a:rPr>
              <a:t>not just sprinting, jogging, 15+ different races, starts/finishes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Gain traction with local businesses and acquire first 1,000 paying users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Char char="●"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Hire marketing/partnership team member (Capture $7.3M SOM with 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targeted</a:t>
            </a: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 marketing)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Use of funds breakdown (example):</a:t>
            </a:r>
            <a:endParaRPr b="1" sz="20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65% — User acquisition &amp; marketing (Track team partnerships, targeted outreach)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35% — Engineering (infra scale, ML model robustness)</a:t>
            </a:r>
            <a:endParaRPr b="1" sz="15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5" title="gold_stride_logo.png"/>
          <p:cNvPicPr preferRelativeResize="0"/>
          <p:nvPr/>
        </p:nvPicPr>
        <p:blipFill rotWithShape="1">
          <a:blip r:embed="rId3">
            <a:alphaModFix/>
          </a:blip>
          <a:srcRect b="37991" l="16740" r="13129" t="31630"/>
          <a:stretch/>
        </p:blipFill>
        <p:spPr>
          <a:xfrm>
            <a:off x="2116724" y="1505348"/>
            <a:ext cx="4677274" cy="135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/>
          <p:nvPr/>
        </p:nvSpPr>
        <p:spPr>
          <a:xfrm>
            <a:off x="1223700" y="3093840"/>
            <a:ext cx="6696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371"/>
              <a:buFont typeface="Helvetica Neue"/>
              <a:buNone/>
            </a:pPr>
            <a:r>
              <a:rPr b="1" lang="en" sz="20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Thank you for your time. Let’s work together to bridge the gap </a:t>
            </a:r>
            <a:r>
              <a:rPr b="1" lang="en" sz="2000">
                <a:solidFill>
                  <a:srgbClr val="F2F2EF"/>
                </a:solidFill>
                <a:latin typeface="Google Sans"/>
                <a:ea typeface="Google Sans"/>
                <a:cs typeface="Google Sans"/>
                <a:sym typeface="Google Sans"/>
              </a:rPr>
              <a:t>between running and technology!</a:t>
            </a:r>
            <a:endParaRPr i="0" sz="2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225" y="105823"/>
            <a:ext cx="288125" cy="234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7900" y="285325"/>
            <a:ext cx="66966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500" b="1">
                <a:solidFill>
                  <a:srgbClr val="F2F2EF"/>
                </a:solidFill>
                <a:latin typeface="Google Sans"/>
              </a:rPr>
              <a:t>Our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900" y="700000"/>
            <a:ext cx="81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E8C87D"/>
                </a:solidFill>
                <a:latin typeface="Google Sans"/>
              </a:rPr>
              <a:t>$125K on a SAFE. </a:t>
            </a:r>
            <a:r>
              <a:rPr sz="1500" b="1">
                <a:solidFill>
                  <a:srgbClr val="F2F2EF"/>
                </a:solidFill>
                <a:latin typeface="Google Sans"/>
              </a:rPr>
              <a:t>Twelve months to a validated engine and 1,000 paying athletes.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7900" y="1140000"/>
            <a:ext cx="8732100" cy="0"/>
          </a:xfrm>
          <a:prstGeom prst="line">
            <a:avLst/>
          </a:prstGeom>
          <a:ln w="9525">
            <a:solidFill>
              <a:srgbClr val="3A3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7900" y="1230000"/>
            <a:ext cx="418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 spc="160">
                <a:solidFill>
                  <a:srgbClr val="E8C87D"/>
                </a:solidFill>
                <a:latin typeface="Google Sans"/>
              </a:rP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900" y="1460000"/>
            <a:ext cx="1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E8865C"/>
                </a:solidFill>
                <a:latin typeface="Google Sans"/>
              </a:rPr>
              <a:t>65%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7900" y="1478000"/>
            <a:ext cx="3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F2F2EF"/>
                </a:solidFill>
                <a:latin typeface="Google Sans"/>
              </a:rPr>
              <a:t>User acquisition &amp; partnerships</a:t>
            </a:r>
          </a:p>
          <a:p>
            <a:r>
              <a:rPr sz="800" b="0">
                <a:solidFill>
                  <a:srgbClr val="9E9E9E"/>
                </a:solidFill>
                <a:latin typeface="Google Sans"/>
              </a:rPr>
              <a:t>Track-team pilots, coach outreach, first paid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900" y="1760000"/>
            <a:ext cx="110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>
                <a:solidFill>
                  <a:srgbClr val="9E9E9E"/>
                </a:solidFill>
                <a:latin typeface="Google Sans"/>
              </a:rPr>
              <a:t>$81,250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900" y="1980000"/>
            <a:ext cx="4180000" cy="74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7900" y="1980000"/>
            <a:ext cx="2717000" cy="74000"/>
          </a:xfrm>
          <a:prstGeom prst="rect">
            <a:avLst/>
          </a:prstGeom>
          <a:solidFill>
            <a:srgbClr val="E88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7900" y="2200000"/>
            <a:ext cx="1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5FC9B0"/>
                </a:solidFill>
                <a:latin typeface="Google Sans"/>
              </a:rP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7900" y="2218000"/>
            <a:ext cx="3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F2F2EF"/>
                </a:solidFill>
                <a:latin typeface="Google Sans"/>
              </a:rPr>
              <a:t>Engineering</a:t>
            </a:r>
          </a:p>
          <a:p>
            <a:r>
              <a:rPr sz="800" b="0">
                <a:solidFill>
                  <a:srgbClr val="9E9E9E"/>
                </a:solidFill>
                <a:latin typeface="Google Sans"/>
              </a:rPr>
              <a:t>ML generalization beyond sprint · coach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900" y="2500000"/>
            <a:ext cx="110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>
                <a:solidFill>
                  <a:srgbClr val="9E9E9E"/>
                </a:solidFill>
                <a:latin typeface="Google Sans"/>
              </a:rPr>
              <a:t>$31,250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7900" y="2720000"/>
            <a:ext cx="4180000" cy="74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7900" y="2720000"/>
            <a:ext cx="1045000" cy="74000"/>
          </a:xfrm>
          <a:prstGeom prst="rect">
            <a:avLst/>
          </a:prstGeom>
          <a:solidFill>
            <a:srgbClr val="5F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7900" y="2940000"/>
            <a:ext cx="1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E8C87D"/>
                </a:solidFill>
                <a:latin typeface="Google Sans"/>
              </a:rP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7900" y="2958000"/>
            <a:ext cx="3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F2F2EF"/>
                </a:solidFill>
                <a:latin typeface="Google Sans"/>
              </a:rPr>
              <a:t>Infrastructure, validation &amp; compliance</a:t>
            </a:r>
          </a:p>
          <a:p>
            <a:r>
              <a:rPr sz="800" b="0">
                <a:solidFill>
                  <a:srgbClr val="9E9E9E"/>
                </a:solidFill>
                <a:latin typeface="Google Sans"/>
              </a:rPr>
              <a:t>Mocap ground-truth sessions · TLS/WAF · store fees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900" y="3240000"/>
            <a:ext cx="110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>
                <a:solidFill>
                  <a:srgbClr val="9E9E9E"/>
                </a:solidFill>
                <a:latin typeface="Google Sans"/>
              </a:rPr>
              <a:t>$12,500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7900" y="3460000"/>
            <a:ext cx="4180000" cy="74000"/>
          </a:xfrm>
          <a:prstGeom prst="rect">
            <a:avLst/>
          </a:prstGeom>
          <a:solidFill>
            <a:srgbClr val="1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7900" y="3460000"/>
            <a:ext cx="418000" cy="74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7900" y="3620000"/>
            <a:ext cx="418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0">
                <a:solidFill>
                  <a:srgbClr val="9E9E9E"/>
                </a:solidFill>
                <a:latin typeface="Google Sans"/>
              </a:rPr>
              <a:t>Engineering plus infrastructure is the 35% technical allocation.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0000" y="1230000"/>
            <a:ext cx="408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 spc="160">
                <a:solidFill>
                  <a:srgbClr val="E8C87D"/>
                </a:solidFill>
                <a:latin typeface="Google Sans"/>
              </a:rPr>
              <a:t>WHAT THE ROUND PROVES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80000" y="1512000"/>
            <a:ext cx="46000" cy="46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0000" y="1470000"/>
            <a:ext cx="393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F2F2EF"/>
                </a:solidFill>
                <a:latin typeface="Google Sans"/>
              </a:rPr>
              <a:t>1,000 paying athletes</a:t>
            </a:r>
          </a:p>
          <a:p>
            <a:r>
              <a:rPr sz="850" b="0">
                <a:solidFill>
                  <a:srgbClr val="9E9E9E"/>
                </a:solidFill>
                <a:latin typeface="Google Sans"/>
              </a:rPr>
              <a:t>with real retention cohorts, not waitlist counts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80000" y="2057000"/>
            <a:ext cx="46000" cy="46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0000" y="2015000"/>
            <a:ext cx="393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F2F2EF"/>
                </a:solidFill>
                <a:latin typeface="Google Sans"/>
              </a:rPr>
              <a:t>Head-on metrics promoted to trusted</a:t>
            </a:r>
          </a:p>
          <a:p>
            <a:r>
              <a:rPr sz="850" b="0">
                <a:solidFill>
                  <a:srgbClr val="9E9E9E"/>
                </a:solidFill>
                <a:latin typeface="Google Sans"/>
              </a:rPr>
              <a:t>measured against mocap ground truth, not asserted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80000" y="2602000"/>
            <a:ext cx="46000" cy="46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30000" y="2560000"/>
            <a:ext cx="393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F2F2EF"/>
                </a:solidFill>
                <a:latin typeface="Google Sans"/>
              </a:rPr>
              <a:t>Live on App Store and Play Store</a:t>
            </a:r>
          </a:p>
          <a:p>
            <a:r>
              <a:rPr sz="850" b="0">
                <a:solidFill>
                  <a:srgbClr val="9E9E9E"/>
                </a:solidFill>
                <a:latin typeface="Google Sans"/>
              </a:rPr>
              <a:t>TLS, WAF and CI/CD hardened behind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80000" y="3147000"/>
            <a:ext cx="46000" cy="46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30000" y="3105000"/>
            <a:ext cx="39300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F2F2EF"/>
                </a:solidFill>
                <a:latin typeface="Google Sans"/>
              </a:rPr>
              <a:t>3+ paid team pilots</a:t>
            </a:r>
          </a:p>
          <a:p>
            <a:r>
              <a:rPr sz="850" b="0">
                <a:solidFill>
                  <a:srgbClr val="9E9E9E"/>
                </a:solidFill>
                <a:latin typeface="Google Sans"/>
              </a:rPr>
              <a:t>each converting to a season licence at renewal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27900" y="3960000"/>
            <a:ext cx="8732100" cy="0"/>
          </a:xfrm>
          <a:prstGeom prst="line">
            <a:avLst/>
          </a:prstGeom>
          <a:ln w="9525">
            <a:solidFill>
              <a:srgbClr val="3A37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7900" y="4030000"/>
            <a:ext cx="4000000" cy="1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 spc="160">
                <a:solidFill>
                  <a:srgbClr val="E8C87D"/>
                </a:solidFill>
                <a:latin typeface="Google Sans"/>
              </a:rPr>
              <a:t>WHY $125K IS ENOUGH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7900" y="4265000"/>
            <a:ext cx="2830700" cy="620000"/>
          </a:xfrm>
          <a:prstGeom prst="rect">
            <a:avLst/>
          </a:prstGeom>
          <a:solidFill>
            <a:srgbClr val="12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7900" y="4265000"/>
            <a:ext cx="40000" cy="620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900" y="4330000"/>
            <a:ext cx="25807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8C87D"/>
                </a:solidFill>
                <a:latin typeface="Google Sans"/>
              </a:rPr>
              <a:t>$0</a:t>
            </a:r>
          </a:p>
          <a:p>
            <a:r>
              <a:rPr sz="800" b="0">
                <a:solidFill>
                  <a:srgbClr val="9E9E9E"/>
                </a:solidFill>
                <a:latin typeface="Google Sans"/>
              </a:rPr>
              <a:t>raised to reach a working production stack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8600" y="4265000"/>
            <a:ext cx="2830700" cy="620000"/>
          </a:xfrm>
          <a:prstGeom prst="rect">
            <a:avLst/>
          </a:prstGeom>
          <a:solidFill>
            <a:srgbClr val="12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78600" y="4265000"/>
            <a:ext cx="40000" cy="620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53600" y="4330000"/>
            <a:ext cx="25807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8C87D"/>
                </a:solidFill>
                <a:latin typeface="Google Sans"/>
              </a:rPr>
              <a:t>&lt;$5K/mo</a:t>
            </a:r>
          </a:p>
          <a:p>
            <a:r>
              <a:rPr sz="800" b="0">
                <a:solidFill>
                  <a:srgbClr val="9E9E9E"/>
                </a:solidFill>
                <a:latin typeface="Google Sans"/>
              </a:rPr>
              <a:t>AWS infra at 100,000 users, autoscaled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9300" y="4265000"/>
            <a:ext cx="2830700" cy="620000"/>
          </a:xfrm>
          <a:prstGeom prst="rect">
            <a:avLst/>
          </a:prstGeom>
          <a:solidFill>
            <a:srgbClr val="12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9300" y="4265000"/>
            <a:ext cx="40000" cy="620000"/>
          </a:xfrm>
          <a:prstGeom prst="rect">
            <a:avLst/>
          </a:prstGeom>
          <a:solidFill>
            <a:srgbClr val="E8C8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4300" y="4330000"/>
            <a:ext cx="25807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8C87D"/>
                </a:solidFill>
                <a:latin typeface="Google Sans"/>
              </a:rPr>
              <a:t>90%+</a:t>
            </a:r>
          </a:p>
          <a:p>
            <a:r>
              <a:rPr sz="800" b="0">
                <a:solidFill>
                  <a:srgbClr val="9E9E9E"/>
                </a:solidFill>
                <a:latin typeface="Google Sans"/>
              </a:rPr>
              <a:t>gross margin — under 2¢ of compute per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